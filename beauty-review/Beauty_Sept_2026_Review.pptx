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35e76d59-88c9-f012-b791-6f056fc7c6ef}">
          <p14:sldIdLst>
            <p14:sldId id="256"/>
          </p14:sldIdLst>
        </p14:section>
        <p14:section name="September 2026" id="{687a7f77-3321-7e2a-bfa0-1663e4de17ab}">
          <p14:sldIdLst>
            <p14:sldId id="257"/>
            <p14:sldId id="258"/>
            <p14:sldId id="259"/>
            <p14:sldId id="260"/>
            <p14:sldId id="261"/>
            <p14:sldId id="262"/>
            <p14:sldId id="263"/>
            <p14:sldId id="264"/>
          </p14:sldIdLst>
        </p14:section>
        <p14:section name="Notes" id="{4f21ab0b-334a-9329-9427-1d37159d6fa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73E"/>
                </a:solidFill>
                <a:latin typeface="+mn-lt"/>
              </a:defRPr>
            </a:pPr>
            <a:r>
              <a:rPr sz="1300" b="0" i="0" u="none" strike="noStrike">
                <a:solidFill>
                  <a:srgbClr val="33373E"/>
                </a:solidFill>
                <a:latin typeface="+mn-lt"/>
              </a:rPr>
              <a:t>GMV (AED M)</a:t>
            </a:r>
          </a:p>
        </c:rich>
      </c:tx>
      <c:layout/>
      <c:overlay val="0"/>
    </c:title>
    <c:autoTitleDeleted val="0"/>
    <c:plotArea>
      <c:layout/>
      <c:barChart>
        <c:barDir val="col"/>
        <c:grouping val="clustered"/>
        <c:varyColors val="0"/>
        <c:ser>
          <c:idx val="0"/>
          <c:order val="0"/>
          <c:tx>
            <c:strRef>
              <c:f>Sheet1!$B$1</c:f>
              <c:strCache>
                <c:ptCount val="1"/>
                <c:pt idx="0">
                  <c:v>TY 2026</c:v>
                </c:pt>
              </c:strCache>
            </c:strRef>
          </c:tx>
          <c:spPr>
            <a:solidFill>
              <a:srgbClr val="7FA91E"/>
            </a:solidFill>
            <a:effectLst/>
          </c:spPr>
          <c:invertIfNegative val="0"/>
          <c:dLbls>
            <c:numFmt formatCode="0.00&quot;M&quot;"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cat>
            <c:multiLvlStrRef>
              <c:f>Sheet1!$A$2:$A$3</c:f>
              <c:multiLvlStrCache>
                <c:ptCount val="2"/>
                <c:lvl>
                  <c:pt idx="0">
                    <c:v>Retail</c:v>
                  </c:pt>
                  <c:pt idx="1">
                    <c:v>Marketplace</c:v>
                  </c:pt>
                </c:lvl>
              </c:multiLvlStrCache>
            </c:multiLvlStrRef>
          </c:cat>
          <c:val>
            <c:numRef>
              <c:f>Sheet1!$B$2:$B$3</c:f>
              <c:numCache>
                <c:formatCode>General</c:formatCode>
                <c:ptCount val="2"/>
                <c:pt idx="0">
                  <c:v>5.13</c:v>
                </c:pt>
                <c:pt idx="1">
                  <c:v>1.24</c:v>
                </c:pt>
              </c:numCache>
            </c:numRef>
          </c:val>
        </c:ser>
        <c:ser>
          <c:idx val="1"/>
          <c:order val="1"/>
          <c:tx>
            <c:strRef>
              <c:f>Sheet1!$C$1</c:f>
              <c:strCache>
                <c:ptCount val="1"/>
                <c:pt idx="0">
                  <c:v>LY 2025</c:v>
                </c:pt>
              </c:strCache>
            </c:strRef>
          </c:tx>
          <c:spPr>
            <a:solidFill>
              <a:srgbClr val="C9A0AE"/>
            </a:solidFill>
            <a:effectLst/>
          </c:spPr>
          <c:invertIfNegative val="0"/>
          <c:dLbls>
            <c:numFmt formatCode="0.00&quot;M&quot;"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cat>
            <c:multiLvlStrRef>
              <c:f>Sheet1!$A$2:$A$3</c:f>
              <c:multiLvlStrCache>
                <c:ptCount val="2"/>
                <c:lvl>
                  <c:pt idx="0">
                    <c:v>Retail</c:v>
                  </c:pt>
                  <c:pt idx="1">
                    <c:v>Marketplace</c:v>
                  </c:pt>
                </c:lvl>
              </c:multiLvlStrCache>
            </c:multiLvlStrRef>
          </c:cat>
          <c:val>
            <c:numRef>
              <c:f>Sheet1!$C$2:$C$3</c:f>
              <c:numCache>
                <c:formatCode>General</c:formatCode>
                <c:ptCount val="2"/>
                <c:pt idx="0">
                  <c:v>8.1</c:v>
                </c:pt>
                <c:pt idx="1">
                  <c:v>0.75</c:v>
                </c:pt>
              </c:numCache>
            </c:numRef>
          </c:val>
        </c:ser>
        <c:dLbls>
          <c:numFmt formatCode="0.00&quot;M&quot;"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07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0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73E"/>
                </a:solidFill>
                <a:latin typeface="+mn-lt"/>
              </a:defRPr>
            </a:pPr>
            <a:r>
              <a:rPr sz="1300" b="0" i="0" u="none" strike="noStrike">
                <a:solidFill>
                  <a:srgbClr val="33373E"/>
                </a:solidFill>
                <a:latin typeface="+mn-lt"/>
              </a:rPr>
              <a:t>GMV per day (AED K)</a:t>
            </a:r>
          </a:p>
        </c:rich>
      </c:tx>
      <c:layout/>
      <c:overlay val="0"/>
    </c:title>
    <c:autoTitleDeleted val="0"/>
    <c:plotArea>
      <c:layout/>
      <c:barChart>
        <c:barDir val="col"/>
        <c:grouping val="clustered"/>
        <c:varyColors val="0"/>
        <c:ser>
          <c:idx val="0"/>
          <c:order val="0"/>
          <c:tx>
            <c:strRef>
              <c:f>Sheet1!$B$1</c:f>
              <c:strCache>
                <c:ptCount val="1"/>
                <c:pt idx="0">
                  <c:v>TY 2026</c:v>
                </c:pt>
              </c:strCache>
            </c:strRef>
          </c:tx>
          <c:spPr>
            <a:solidFill>
              <a:srgbClr val="7FA91E"/>
            </a:solidFill>
            <a:effectLst/>
          </c:spPr>
          <c:invertIfNegative val="0"/>
          <c:dLbls>
            <c:numFmt formatCode="#,##0&quot;K&quot;"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cat>
            <c:multiLvlStrRef>
              <c:f>Sheet1!$A$2:$A$4</c:f>
              <c:multiLvlStrCache>
                <c:ptCount val="3"/>
                <c:lvl>
                  <c:pt idx="0">
                    <c:v>1–18 Sep</c:v>
                  </c:pt>
                  <c:pt idx="1">
                    <c:v>19–25 Sep</c:v>
                  </c:pt>
                  <c:pt idx="2">
                    <c:v>26–30 Sep</c:v>
                  </c:pt>
                </c:lvl>
              </c:multiLvlStrCache>
            </c:multiLvlStrRef>
          </c:cat>
          <c:val>
            <c:numRef>
              <c:f>Sheet1!$B$2:$B$4</c:f>
              <c:numCache>
                <c:formatCode>General</c:formatCode>
                <c:ptCount val="3"/>
                <c:pt idx="0">
                  <c:v>194</c:v>
                </c:pt>
                <c:pt idx="1">
                  <c:v>190</c:v>
                </c:pt>
                <c:pt idx="2">
                  <c:v>311</c:v>
                </c:pt>
              </c:numCache>
            </c:numRef>
          </c:val>
        </c:ser>
        <c:ser>
          <c:idx val="1"/>
          <c:order val="1"/>
          <c:tx>
            <c:strRef>
              <c:f>Sheet1!$C$1</c:f>
              <c:strCache>
                <c:ptCount val="1"/>
                <c:pt idx="0">
                  <c:v>LY 2025</c:v>
                </c:pt>
              </c:strCache>
            </c:strRef>
          </c:tx>
          <c:spPr>
            <a:solidFill>
              <a:srgbClr val="C9A0AE"/>
            </a:solidFill>
            <a:effectLst/>
          </c:spPr>
          <c:invertIfNegative val="0"/>
          <c:dLbls>
            <c:numFmt formatCode="#,##0&quot;K&quot;"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cat>
            <c:multiLvlStrRef>
              <c:f>Sheet1!$A$2:$A$4</c:f>
              <c:multiLvlStrCache>
                <c:ptCount val="3"/>
                <c:lvl>
                  <c:pt idx="0">
                    <c:v>1–18 Sep</c:v>
                  </c:pt>
                  <c:pt idx="1">
                    <c:v>19–25 Sep</c:v>
                  </c:pt>
                  <c:pt idx="2">
                    <c:v>26–30 Sep</c:v>
                  </c:pt>
                </c:lvl>
              </c:multiLvlStrCache>
            </c:multiLvlStrRef>
          </c:cat>
          <c:val>
            <c:numRef>
              <c:f>Sheet1!$C$2:$C$4</c:f>
              <c:numCache>
                <c:formatCode>General</c:formatCode>
                <c:ptCount val="3"/>
                <c:pt idx="0">
                  <c:v>239</c:v>
                </c:pt>
                <c:pt idx="1">
                  <c:v>329</c:v>
                </c:pt>
                <c:pt idx="2">
                  <c:v>446</c:v>
                </c:pt>
              </c:numCache>
            </c:numRef>
          </c:val>
        </c:ser>
        <c:dLbls>
          <c:numFmt formatCode="#,##0&quot;K&quot;"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07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0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73E"/>
                </a:solidFill>
                <a:latin typeface="+mn-lt"/>
              </a:defRPr>
            </a:pPr>
            <a:r>
              <a:rPr sz="1300" b="0" i="0" u="none" strike="noStrike">
                <a:solidFill>
                  <a:srgbClr val="33373E"/>
                </a:solidFill>
                <a:latin typeface="+mn-lt"/>
              </a:rPr>
              <a:t>GMV (AED K)</a:t>
            </a:r>
          </a:p>
        </c:rich>
      </c:tx>
      <c:layout/>
      <c:overlay val="0"/>
    </c:title>
    <c:autoTitleDeleted val="0"/>
    <c:plotArea>
      <c:layout>
        <c:manualLayout>
          <c:layoutTarget val="inner"/>
          <c:xMode val="edge"/>
          <c:yMode val="edge"/>
          <c:x val="0.09"/>
          <c:y val="0.2"/>
          <c:w val="0.88"/>
          <c:h val="0.62"/>
        </c:manualLayout>
      </c:layout>
      <c:lineChart>
        <c:varyColors val="0"/>
        <c:ser>
          <c:idx val="0"/>
          <c:order val="0"/>
          <c:tx>
            <c:strRef>
              <c:f>Sheet1!$B$1</c:f>
              <c:strCache>
                <c:ptCount val="1"/>
                <c:pt idx="0">
                  <c:v>TY 2026</c:v>
                </c:pt>
              </c:strCache>
            </c:strRef>
          </c:tx>
          <c:spPr>
            <a:solidFill>
              <a:srgbClr val="7FA91E"/>
            </a:solidFill>
            <a:ln w="25400" cap="flat">
              <a:solidFill>
                <a:srgbClr val="7FA91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7FA91E"/>
              </a:solidFill>
              <a:ln w="9525" cap="flat">
                <a:solidFill>
                  <a:srgbClr val="7FA91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261</c:v>
                </c:pt>
                <c:pt idx="1">
                  <c:v>238</c:v>
                </c:pt>
                <c:pt idx="2">
                  <c:v>234</c:v>
                </c:pt>
                <c:pt idx="3">
                  <c:v>237</c:v>
                </c:pt>
                <c:pt idx="4">
                  <c:v>243</c:v>
                </c:pt>
                <c:pt idx="5">
                  <c:v>259</c:v>
                </c:pt>
                <c:pt idx="6">
                  <c:v>186</c:v>
                </c:pt>
                <c:pt idx="7">
                  <c:v>167</c:v>
                </c:pt>
                <c:pt idx="8">
                  <c:v>170</c:v>
                </c:pt>
                <c:pt idx="9">
                  <c:v>181</c:v>
                </c:pt>
                <c:pt idx="10">
                  <c:v>178</c:v>
                </c:pt>
                <c:pt idx="11">
                  <c:v>198</c:v>
                </c:pt>
                <c:pt idx="12">
                  <c:v>184</c:v>
                </c:pt>
                <c:pt idx="13">
                  <c:v>151</c:v>
                </c:pt>
                <c:pt idx="14">
                  <c:v>162</c:v>
                </c:pt>
                <c:pt idx="15">
                  <c:v>144</c:v>
                </c:pt>
                <c:pt idx="16">
                  <c:v>146</c:v>
                </c:pt>
                <c:pt idx="17">
                  <c:v>149</c:v>
                </c:pt>
                <c:pt idx="18">
                  <c:v>277</c:v>
                </c:pt>
                <c:pt idx="19">
                  <c:v>213</c:v>
                </c:pt>
                <c:pt idx="20">
                  <c:v>146</c:v>
                </c:pt>
                <c:pt idx="21">
                  <c:v>152</c:v>
                </c:pt>
                <c:pt idx="22">
                  <c:v>169</c:v>
                </c:pt>
                <c:pt idx="23">
                  <c:v>171</c:v>
                </c:pt>
                <c:pt idx="24">
                  <c:v>207</c:v>
                </c:pt>
                <c:pt idx="25">
                  <c:v>286</c:v>
                </c:pt>
                <c:pt idx="26">
                  <c:v>350</c:v>
                </c:pt>
                <c:pt idx="27">
                  <c:v>320</c:v>
                </c:pt>
                <c:pt idx="28">
                  <c:v>295</c:v>
                </c:pt>
                <c:pt idx="29">
                  <c:v>301</c:v>
                </c:pt>
              </c:numCache>
            </c:numRef>
          </c:val>
          <c:smooth val="0"/>
        </c:ser>
        <c:ser>
          <c:idx val="1"/>
          <c:order val="1"/>
          <c:tx>
            <c:strRef>
              <c:f>Sheet1!$C$1</c:f>
              <c:strCache>
                <c:ptCount val="1"/>
                <c:pt idx="0">
                  <c:v>LY 2025</c:v>
                </c:pt>
              </c:strCache>
            </c:strRef>
          </c:tx>
          <c:spPr>
            <a:solidFill>
              <a:srgbClr val="C9A0AE"/>
            </a:solidFill>
            <a:ln w="25400" cap="flat">
              <a:solidFill>
                <a:srgbClr val="C9A0A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C9A0AE"/>
              </a:solidFill>
              <a:ln w="9525" cap="flat">
                <a:solidFill>
                  <a:srgbClr val="C9A0A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315</c:v>
                </c:pt>
                <c:pt idx="1">
                  <c:v>322</c:v>
                </c:pt>
                <c:pt idx="2">
                  <c:v>277</c:v>
                </c:pt>
                <c:pt idx="3">
                  <c:v>254</c:v>
                </c:pt>
                <c:pt idx="4">
                  <c:v>324</c:v>
                </c:pt>
                <c:pt idx="5">
                  <c:v>298</c:v>
                </c:pt>
                <c:pt idx="6">
                  <c:v>272</c:v>
                </c:pt>
                <c:pt idx="7">
                  <c:v>256</c:v>
                </c:pt>
                <c:pt idx="8">
                  <c:v>216</c:v>
                </c:pt>
                <c:pt idx="9">
                  <c:v>249</c:v>
                </c:pt>
                <c:pt idx="10">
                  <c:v>200</c:v>
                </c:pt>
                <c:pt idx="11">
                  <c:v>195</c:v>
                </c:pt>
                <c:pt idx="12">
                  <c:v>205</c:v>
                </c:pt>
                <c:pt idx="13">
                  <c:v>221</c:v>
                </c:pt>
                <c:pt idx="14">
                  <c:v>163</c:v>
                </c:pt>
                <c:pt idx="15">
                  <c:v>172</c:v>
                </c:pt>
                <c:pt idx="16">
                  <c:v>189</c:v>
                </c:pt>
                <c:pt idx="17">
                  <c:v>182</c:v>
                </c:pt>
                <c:pt idx="18">
                  <c:v>251</c:v>
                </c:pt>
                <c:pt idx="19">
                  <c:v>301</c:v>
                </c:pt>
                <c:pt idx="20">
                  <c:v>328</c:v>
                </c:pt>
                <c:pt idx="21">
                  <c:v>306</c:v>
                </c:pt>
                <c:pt idx="22">
                  <c:v>481</c:v>
                </c:pt>
                <c:pt idx="23">
                  <c:v>292</c:v>
                </c:pt>
                <c:pt idx="24">
                  <c:v>342</c:v>
                </c:pt>
                <c:pt idx="25">
                  <c:v>474</c:v>
                </c:pt>
                <c:pt idx="26">
                  <c:v>459</c:v>
                </c:pt>
                <c:pt idx="27">
                  <c:v>516</c:v>
                </c:pt>
                <c:pt idx="28">
                  <c:v>395</c:v>
                </c:pt>
                <c:pt idx="29">
                  <c:v>387</c:v>
                </c:pt>
              </c:numCache>
            </c:numRef>
          </c:val>
          <c:smooth val="0"/>
        </c:ser>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6B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73E"/>
                </a:solidFill>
                <a:latin typeface="+mn-lt"/>
              </a:defRPr>
            </a:pPr>
            <a:r>
              <a:rPr sz="1300" b="0" i="0" u="none" strike="noStrike">
                <a:solidFill>
                  <a:srgbClr val="33373E"/>
                </a:solidFill>
                <a:latin typeface="+mn-lt"/>
              </a:rPr>
              <a:t>Markdown %</a:t>
            </a:r>
          </a:p>
        </c:rich>
      </c:tx>
      <c:layout/>
      <c:overlay val="0"/>
    </c:title>
    <c:autoTitleDeleted val="0"/>
    <c:plotArea>
      <c:layout>
        <c:manualLayout>
          <c:layoutTarget val="inner"/>
          <c:xMode val="edge"/>
          <c:yMode val="edge"/>
          <c:x val="0.09"/>
          <c:y val="0.2"/>
          <c:w val="0.88"/>
          <c:h val="0.62"/>
        </c:manualLayout>
      </c:layout>
      <c:lineChart>
        <c:varyColors val="0"/>
        <c:ser>
          <c:idx val="0"/>
          <c:order val="0"/>
          <c:tx>
            <c:strRef>
              <c:f>Sheet1!$B$1</c:f>
              <c:strCache>
                <c:ptCount val="1"/>
                <c:pt idx="0">
                  <c:v>TY 2026</c:v>
                </c:pt>
              </c:strCache>
            </c:strRef>
          </c:tx>
          <c:spPr>
            <a:solidFill>
              <a:srgbClr val="7FA91E"/>
            </a:solidFill>
            <a:ln w="25400" cap="flat">
              <a:solidFill>
                <a:srgbClr val="7FA91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7FA91E"/>
              </a:solidFill>
              <a:ln w="9525" cap="flat">
                <a:solidFill>
                  <a:srgbClr val="7FA91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24.9</c:v>
                </c:pt>
                <c:pt idx="1">
                  <c:v>24.8</c:v>
                </c:pt>
                <c:pt idx="2">
                  <c:v>25.1</c:v>
                </c:pt>
                <c:pt idx="3">
                  <c:v>25.2</c:v>
                </c:pt>
                <c:pt idx="4">
                  <c:v>25</c:v>
                </c:pt>
                <c:pt idx="5">
                  <c:v>26.7</c:v>
                </c:pt>
                <c:pt idx="6">
                  <c:v>21</c:v>
                </c:pt>
                <c:pt idx="7">
                  <c:v>23.2</c:v>
                </c:pt>
                <c:pt idx="8">
                  <c:v>22.9</c:v>
                </c:pt>
                <c:pt idx="9">
                  <c:v>25</c:v>
                </c:pt>
                <c:pt idx="10">
                  <c:v>22.6</c:v>
                </c:pt>
                <c:pt idx="11">
                  <c:v>22.7</c:v>
                </c:pt>
                <c:pt idx="12">
                  <c:v>23.3</c:v>
                </c:pt>
                <c:pt idx="13">
                  <c:v>22.6</c:v>
                </c:pt>
                <c:pt idx="14">
                  <c:v>20.6</c:v>
                </c:pt>
                <c:pt idx="15">
                  <c:v>19.8</c:v>
                </c:pt>
                <c:pt idx="16">
                  <c:v>22.4</c:v>
                </c:pt>
                <c:pt idx="17">
                  <c:v>20.9</c:v>
                </c:pt>
                <c:pt idx="18">
                  <c:v>11.6</c:v>
                </c:pt>
                <c:pt idx="19">
                  <c:v>15.4</c:v>
                </c:pt>
                <c:pt idx="20">
                  <c:v>19.3</c:v>
                </c:pt>
                <c:pt idx="21">
                  <c:v>20.1</c:v>
                </c:pt>
                <c:pt idx="22">
                  <c:v>20.2</c:v>
                </c:pt>
                <c:pt idx="23">
                  <c:v>23</c:v>
                </c:pt>
                <c:pt idx="24">
                  <c:v>23.1</c:v>
                </c:pt>
                <c:pt idx="25">
                  <c:v>23</c:v>
                </c:pt>
                <c:pt idx="26">
                  <c:v>24.6</c:v>
                </c:pt>
                <c:pt idx="27">
                  <c:v>23.3</c:v>
                </c:pt>
                <c:pt idx="28">
                  <c:v>25.2</c:v>
                </c:pt>
                <c:pt idx="29">
                  <c:v>25.8</c:v>
                </c:pt>
              </c:numCache>
            </c:numRef>
          </c:val>
          <c:smooth val="0"/>
        </c:ser>
        <c:ser>
          <c:idx val="1"/>
          <c:order val="1"/>
          <c:tx>
            <c:strRef>
              <c:f>Sheet1!$C$1</c:f>
              <c:strCache>
                <c:ptCount val="1"/>
                <c:pt idx="0">
                  <c:v>LY 2025</c:v>
                </c:pt>
              </c:strCache>
            </c:strRef>
          </c:tx>
          <c:spPr>
            <a:solidFill>
              <a:srgbClr val="C9A0AE"/>
            </a:solidFill>
            <a:ln w="25400" cap="flat">
              <a:solidFill>
                <a:srgbClr val="C9A0A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C9A0AE"/>
              </a:solidFill>
              <a:ln w="9525" cap="flat">
                <a:solidFill>
                  <a:srgbClr val="C9A0A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17.5</c:v>
                </c:pt>
                <c:pt idx="1">
                  <c:v>15.4</c:v>
                </c:pt>
                <c:pt idx="2">
                  <c:v>16.1</c:v>
                </c:pt>
                <c:pt idx="3">
                  <c:v>11.3</c:v>
                </c:pt>
                <c:pt idx="4">
                  <c:v>9.9</c:v>
                </c:pt>
                <c:pt idx="5">
                  <c:v>8.9</c:v>
                </c:pt>
                <c:pt idx="6">
                  <c:v>9.8</c:v>
                </c:pt>
                <c:pt idx="7">
                  <c:v>10.8</c:v>
                </c:pt>
                <c:pt idx="8">
                  <c:v>10.7</c:v>
                </c:pt>
                <c:pt idx="9">
                  <c:v>11</c:v>
                </c:pt>
                <c:pt idx="10">
                  <c:v>11.9</c:v>
                </c:pt>
                <c:pt idx="11">
                  <c:v>11.6</c:v>
                </c:pt>
                <c:pt idx="12">
                  <c:v>11.9</c:v>
                </c:pt>
                <c:pt idx="13">
                  <c:v>15.2</c:v>
                </c:pt>
                <c:pt idx="14">
                  <c:v>13.1</c:v>
                </c:pt>
                <c:pt idx="15">
                  <c:v>12.5</c:v>
                </c:pt>
                <c:pt idx="16">
                  <c:v>18.1</c:v>
                </c:pt>
                <c:pt idx="17">
                  <c:v>15.5</c:v>
                </c:pt>
                <c:pt idx="18">
                  <c:v>23.5</c:v>
                </c:pt>
                <c:pt idx="19">
                  <c:v>33.5</c:v>
                </c:pt>
                <c:pt idx="20">
                  <c:v>31.4</c:v>
                </c:pt>
                <c:pt idx="21">
                  <c:v>30.1</c:v>
                </c:pt>
                <c:pt idx="22">
                  <c:v>17.1</c:v>
                </c:pt>
                <c:pt idx="23">
                  <c:v>27.1</c:v>
                </c:pt>
                <c:pt idx="24">
                  <c:v>25.1</c:v>
                </c:pt>
                <c:pt idx="25">
                  <c:v>24.5</c:v>
                </c:pt>
                <c:pt idx="26">
                  <c:v>26.6</c:v>
                </c:pt>
                <c:pt idx="27">
                  <c:v>26.4</c:v>
                </c:pt>
                <c:pt idx="28">
                  <c:v>26.5</c:v>
                </c:pt>
                <c:pt idx="29">
                  <c:v>26.6</c:v>
                </c:pt>
              </c:numCache>
            </c:numRef>
          </c:val>
          <c:smooth val="0"/>
        </c:ser>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73E"/>
                </a:solidFill>
                <a:latin typeface="+mn-lt"/>
              </a:defRPr>
            </a:pPr>
            <a:r>
              <a:rPr sz="1300" b="0" i="0" u="none" strike="noStrike">
                <a:solidFill>
                  <a:srgbClr val="33373E"/>
                </a:solidFill>
                <a:latin typeface="+mn-lt"/>
              </a:rPr>
              <a:t>Glance views (K)</a:t>
            </a:r>
          </a:p>
        </c:rich>
      </c:tx>
      <c:layout/>
      <c:overlay val="0"/>
    </c:title>
    <c:autoTitleDeleted val="0"/>
    <c:plotArea>
      <c:layout>
        <c:manualLayout>
          <c:layoutTarget val="inner"/>
          <c:xMode val="edge"/>
          <c:yMode val="edge"/>
          <c:x val="0.09"/>
          <c:y val="0.2"/>
          <c:w val="0.88"/>
          <c:h val="0.62"/>
        </c:manualLayout>
      </c:layout>
      <c:lineChart>
        <c:varyColors val="0"/>
        <c:ser>
          <c:idx val="0"/>
          <c:order val="0"/>
          <c:tx>
            <c:strRef>
              <c:f>Sheet1!$B$1</c:f>
              <c:strCache>
                <c:ptCount val="1"/>
                <c:pt idx="0">
                  <c:v>TY 2026</c:v>
                </c:pt>
              </c:strCache>
            </c:strRef>
          </c:tx>
          <c:spPr>
            <a:solidFill>
              <a:srgbClr val="7FA91E"/>
            </a:solidFill>
            <a:ln w="25400" cap="flat">
              <a:solidFill>
                <a:srgbClr val="7FA91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7FA91E"/>
              </a:solidFill>
              <a:ln w="9525" cap="flat">
                <a:solidFill>
                  <a:srgbClr val="7FA91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140</c:v>
                </c:pt>
                <c:pt idx="1">
                  <c:v>140</c:v>
                </c:pt>
                <c:pt idx="2">
                  <c:v>136</c:v>
                </c:pt>
                <c:pt idx="3">
                  <c:v>149</c:v>
                </c:pt>
                <c:pt idx="4">
                  <c:v>157</c:v>
                </c:pt>
                <c:pt idx="5">
                  <c:v>149</c:v>
                </c:pt>
                <c:pt idx="6">
                  <c:v>127</c:v>
                </c:pt>
                <c:pt idx="7">
                  <c:v>121</c:v>
                </c:pt>
                <c:pt idx="8">
                  <c:v>122</c:v>
                </c:pt>
                <c:pt idx="9">
                  <c:v>117</c:v>
                </c:pt>
                <c:pt idx="10">
                  <c:v>129</c:v>
                </c:pt>
                <c:pt idx="11">
                  <c:v>133</c:v>
                </c:pt>
                <c:pt idx="12">
                  <c:v>132</c:v>
                </c:pt>
                <c:pt idx="13">
                  <c:v>121</c:v>
                </c:pt>
                <c:pt idx="14">
                  <c:v>120</c:v>
                </c:pt>
                <c:pt idx="15">
                  <c:v>116</c:v>
                </c:pt>
                <c:pt idx="16">
                  <c:v>116</c:v>
                </c:pt>
                <c:pt idx="17">
                  <c:v>127</c:v>
                </c:pt>
                <c:pt idx="18">
                  <c:v>147</c:v>
                </c:pt>
                <c:pt idx="19">
                  <c:v>130</c:v>
                </c:pt>
                <c:pt idx="20">
                  <c:v>115</c:v>
                </c:pt>
                <c:pt idx="21">
                  <c:v>116</c:v>
                </c:pt>
                <c:pt idx="22">
                  <c:v>122</c:v>
                </c:pt>
                <c:pt idx="23">
                  <c:v>121</c:v>
                </c:pt>
                <c:pt idx="24">
                  <c:v>138</c:v>
                </c:pt>
                <c:pt idx="25">
                  <c:v>171</c:v>
                </c:pt>
                <c:pt idx="26">
                  <c:v>169</c:v>
                </c:pt>
                <c:pt idx="27">
                  <c:v>165</c:v>
                </c:pt>
                <c:pt idx="28">
                  <c:v>165</c:v>
                </c:pt>
                <c:pt idx="29">
                  <c:v>167</c:v>
                </c:pt>
              </c:numCache>
            </c:numRef>
          </c:val>
          <c:smooth val="0"/>
        </c:ser>
        <c:ser>
          <c:idx val="1"/>
          <c:order val="1"/>
          <c:tx>
            <c:strRef>
              <c:f>Sheet1!$C$1</c:f>
              <c:strCache>
                <c:ptCount val="1"/>
                <c:pt idx="0">
                  <c:v>LY 2025</c:v>
                </c:pt>
              </c:strCache>
            </c:strRef>
          </c:tx>
          <c:spPr>
            <a:solidFill>
              <a:srgbClr val="C9A0AE"/>
            </a:solidFill>
            <a:ln w="25400" cap="flat">
              <a:solidFill>
                <a:srgbClr val="C9A0A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C9A0AE"/>
              </a:solidFill>
              <a:ln w="9525" cap="flat">
                <a:solidFill>
                  <a:srgbClr val="C9A0A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156</c:v>
                </c:pt>
                <c:pt idx="1">
                  <c:v>144</c:v>
                </c:pt>
                <c:pt idx="2">
                  <c:v>136</c:v>
                </c:pt>
                <c:pt idx="3">
                  <c:v>137</c:v>
                </c:pt>
                <c:pt idx="4">
                  <c:v>156</c:v>
                </c:pt>
                <c:pt idx="5">
                  <c:v>146</c:v>
                </c:pt>
                <c:pt idx="6">
                  <c:v>135</c:v>
                </c:pt>
                <c:pt idx="7">
                  <c:v>126</c:v>
                </c:pt>
                <c:pt idx="8">
                  <c:v>122</c:v>
                </c:pt>
                <c:pt idx="9">
                  <c:v>126</c:v>
                </c:pt>
                <c:pt idx="10">
                  <c:v>122</c:v>
                </c:pt>
                <c:pt idx="11">
                  <c:v>125</c:v>
                </c:pt>
                <c:pt idx="12">
                  <c:v>118</c:v>
                </c:pt>
                <c:pt idx="13">
                  <c:v>115</c:v>
                </c:pt>
                <c:pt idx="14">
                  <c:v>108</c:v>
                </c:pt>
                <c:pt idx="15">
                  <c:v>107</c:v>
                </c:pt>
                <c:pt idx="16">
                  <c:v>113</c:v>
                </c:pt>
                <c:pt idx="17">
                  <c:v>108</c:v>
                </c:pt>
                <c:pt idx="18">
                  <c:v>140</c:v>
                </c:pt>
                <c:pt idx="19">
                  <c:v>164</c:v>
                </c:pt>
                <c:pt idx="20">
                  <c:v>161</c:v>
                </c:pt>
                <c:pt idx="21">
                  <c:v>152</c:v>
                </c:pt>
                <c:pt idx="22">
                  <c:v>173</c:v>
                </c:pt>
                <c:pt idx="23">
                  <c:v>131</c:v>
                </c:pt>
                <c:pt idx="24">
                  <c:v>174</c:v>
                </c:pt>
                <c:pt idx="25">
                  <c:v>210</c:v>
                </c:pt>
                <c:pt idx="26">
                  <c:v>210</c:v>
                </c:pt>
                <c:pt idx="27">
                  <c:v>200</c:v>
                </c:pt>
                <c:pt idx="28">
                  <c:v>183</c:v>
                </c:pt>
                <c:pt idx="29">
                  <c:v>186</c:v>
                </c:pt>
              </c:numCache>
            </c:numRef>
          </c:val>
          <c:smooth val="0"/>
        </c:ser>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73E"/>
                </a:solidFill>
                <a:latin typeface="+mn-lt"/>
              </a:defRPr>
            </a:pPr>
            <a:r>
              <a:rPr sz="1300" b="0" i="0" u="none" strike="noStrike">
                <a:solidFill>
                  <a:srgbClr val="33373E"/>
                </a:solidFill>
                <a:latin typeface="+mn-lt"/>
              </a:rPr>
              <a:t>UCR % (units ÷ GVs)</a:t>
            </a:r>
          </a:p>
        </c:rich>
      </c:tx>
      <c:layout/>
      <c:overlay val="0"/>
    </c:title>
    <c:autoTitleDeleted val="0"/>
    <c:plotArea>
      <c:layout>
        <c:manualLayout>
          <c:layoutTarget val="inner"/>
          <c:xMode val="edge"/>
          <c:yMode val="edge"/>
          <c:x val="0.09"/>
          <c:y val="0.2"/>
          <c:w val="0.88"/>
          <c:h val="0.62"/>
        </c:manualLayout>
      </c:layout>
      <c:lineChart>
        <c:varyColors val="0"/>
        <c:ser>
          <c:idx val="0"/>
          <c:order val="0"/>
          <c:tx>
            <c:strRef>
              <c:f>Sheet1!$B$1</c:f>
              <c:strCache>
                <c:ptCount val="1"/>
                <c:pt idx="0">
                  <c:v>TY 2026</c:v>
                </c:pt>
              </c:strCache>
            </c:strRef>
          </c:tx>
          <c:spPr>
            <a:solidFill>
              <a:srgbClr val="7FA91E"/>
            </a:solidFill>
            <a:ln w="25400" cap="flat">
              <a:solidFill>
                <a:srgbClr val="7FA91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7FA91E"/>
              </a:solidFill>
              <a:ln w="9525" cap="flat">
                <a:solidFill>
                  <a:srgbClr val="7FA91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2.1</c:v>
                </c:pt>
                <c:pt idx="1">
                  <c:v>1.87</c:v>
                </c:pt>
                <c:pt idx="2">
                  <c:v>2.01</c:v>
                </c:pt>
                <c:pt idx="3">
                  <c:v>1.92</c:v>
                </c:pt>
                <c:pt idx="4">
                  <c:v>1.81</c:v>
                </c:pt>
                <c:pt idx="5">
                  <c:v>1.99</c:v>
                </c:pt>
                <c:pt idx="6">
                  <c:v>1.71</c:v>
                </c:pt>
                <c:pt idx="7">
                  <c:v>1.64</c:v>
                </c:pt>
                <c:pt idx="8">
                  <c:v>1.55</c:v>
                </c:pt>
                <c:pt idx="9">
                  <c:v>1.66</c:v>
                </c:pt>
                <c:pt idx="10">
                  <c:v>1.57</c:v>
                </c:pt>
                <c:pt idx="11">
                  <c:v>1.71</c:v>
                </c:pt>
                <c:pt idx="12">
                  <c:v>1.62</c:v>
                </c:pt>
                <c:pt idx="13">
                  <c:v>1.52</c:v>
                </c:pt>
                <c:pt idx="14">
                  <c:v>1.5</c:v>
                </c:pt>
                <c:pt idx="15">
                  <c:v>1.44</c:v>
                </c:pt>
                <c:pt idx="16">
                  <c:v>1.45</c:v>
                </c:pt>
                <c:pt idx="17">
                  <c:v>1.4</c:v>
                </c:pt>
                <c:pt idx="18">
                  <c:v>1.45</c:v>
                </c:pt>
                <c:pt idx="19">
                  <c:v>1.53</c:v>
                </c:pt>
                <c:pt idx="20">
                  <c:v>1.38</c:v>
                </c:pt>
                <c:pt idx="21">
                  <c:v>1.41</c:v>
                </c:pt>
                <c:pt idx="22">
                  <c:v>1.44</c:v>
                </c:pt>
                <c:pt idx="23">
                  <c:v>1.57</c:v>
                </c:pt>
                <c:pt idx="24">
                  <c:v>1.65</c:v>
                </c:pt>
                <c:pt idx="25">
                  <c:v>1.8</c:v>
                </c:pt>
                <c:pt idx="26">
                  <c:v>2.12</c:v>
                </c:pt>
                <c:pt idx="27">
                  <c:v>1.92</c:v>
                </c:pt>
                <c:pt idx="28">
                  <c:v>2.04</c:v>
                </c:pt>
                <c:pt idx="29">
                  <c:v>1.93</c:v>
                </c:pt>
              </c:numCache>
            </c:numRef>
          </c:val>
          <c:smooth val="0"/>
        </c:ser>
        <c:ser>
          <c:idx val="1"/>
          <c:order val="1"/>
          <c:tx>
            <c:strRef>
              <c:f>Sheet1!$C$1</c:f>
              <c:strCache>
                <c:ptCount val="1"/>
                <c:pt idx="0">
                  <c:v>LY 2025</c:v>
                </c:pt>
              </c:strCache>
            </c:strRef>
          </c:tx>
          <c:spPr>
            <a:solidFill>
              <a:srgbClr val="C9A0AE"/>
            </a:solidFill>
            <a:ln w="25400" cap="flat">
              <a:solidFill>
                <a:srgbClr val="C9A0AE"/>
              </a:solidFill>
              <a:prstDash val="solid"/>
              <a:round/>
            </a:ln>
            <a:effectLst/>
          </c:spPr>
          <c:invertIfNegative val="0"/>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c:symbol val="none"/>
            <c:size val="6"/>
            <c:spPr>
              <a:solidFill>
                <a:srgbClr val="C9A0AE"/>
              </a:solidFill>
              <a:ln w="9525" cap="flat">
                <a:solidFill>
                  <a:srgbClr val="C9A0A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2.37</c:v>
                </c:pt>
                <c:pt idx="1">
                  <c:v>2.39</c:v>
                </c:pt>
                <c:pt idx="2">
                  <c:v>2.29</c:v>
                </c:pt>
                <c:pt idx="3">
                  <c:v>1.97</c:v>
                </c:pt>
                <c:pt idx="4">
                  <c:v>2.09</c:v>
                </c:pt>
                <c:pt idx="5">
                  <c:v>2.16</c:v>
                </c:pt>
                <c:pt idx="6">
                  <c:v>2.03</c:v>
                </c:pt>
                <c:pt idx="7">
                  <c:v>2.19</c:v>
                </c:pt>
                <c:pt idx="8">
                  <c:v>1.93</c:v>
                </c:pt>
                <c:pt idx="9">
                  <c:v>2.19</c:v>
                </c:pt>
                <c:pt idx="10">
                  <c:v>1.88</c:v>
                </c:pt>
                <c:pt idx="11">
                  <c:v>1.61</c:v>
                </c:pt>
                <c:pt idx="12">
                  <c:v>1.83</c:v>
                </c:pt>
                <c:pt idx="13">
                  <c:v>1.94</c:v>
                </c:pt>
                <c:pt idx="14">
                  <c:v>1.63</c:v>
                </c:pt>
                <c:pt idx="15">
                  <c:v>1.76</c:v>
                </c:pt>
                <c:pt idx="16">
                  <c:v>1.93</c:v>
                </c:pt>
                <c:pt idx="17">
                  <c:v>1.94</c:v>
                </c:pt>
                <c:pt idx="18">
                  <c:v>1.98</c:v>
                </c:pt>
                <c:pt idx="19">
                  <c:v>2.18</c:v>
                </c:pt>
                <c:pt idx="20">
                  <c:v>2.28</c:v>
                </c:pt>
                <c:pt idx="21">
                  <c:v>2.44</c:v>
                </c:pt>
                <c:pt idx="22">
                  <c:v>2.46</c:v>
                </c:pt>
                <c:pt idx="23">
                  <c:v>2.67</c:v>
                </c:pt>
                <c:pt idx="24">
                  <c:v>2.28</c:v>
                </c:pt>
                <c:pt idx="25">
                  <c:v>2.65</c:v>
                </c:pt>
                <c:pt idx="26">
                  <c:v>2.67</c:v>
                </c:pt>
                <c:pt idx="27">
                  <c:v>3.16</c:v>
                </c:pt>
                <c:pt idx="28">
                  <c:v>2.81</c:v>
                </c:pt>
                <c:pt idx="29">
                  <c:v>2.85</c:v>
                </c:pt>
              </c:numCache>
            </c:numRef>
          </c:val>
          <c:smooth val="0"/>
        </c:ser>
        <c:dLbls>
          <c:numFmt formatCode="#,##0" sourceLinked="0"/>
          <c:txPr>
            <a:bodyPr/>
            <a:lstStyle/>
            <a:p>
              <a:pPr>
                <a:defRPr b="0" i="0" strike="noStrike" sz="1000" u="none">
                  <a:solidFill>
                    <a:srgbClr val="33373E"/>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6E6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07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3373E"/>
                </a:solidFill>
                <a:latin typeface="+mn-lt"/>
              </a:defRPr>
            </a:pPr>
            <a:r>
              <a:rPr sz="1300" b="0" i="0" u="none" strike="noStrike">
                <a:solidFill>
                  <a:srgbClr val="33373E"/>
                </a:solidFill>
                <a:latin typeface="+mn-lt"/>
              </a:rPr>
              <a:t>GMV change vs LY by driver (AED K)</a:t>
            </a:r>
          </a:p>
        </c:rich>
      </c:tx>
      <c:layout/>
      <c:overlay val="0"/>
    </c:title>
    <c:autoTitleDeleted val="0"/>
    <c:plotArea>
      <c:layout/>
      <c:barChart>
        <c:barDir val="col"/>
        <c:grouping val="clustered"/>
        <c:varyColors val="0"/>
        <c:ser>
          <c:idx val="0"/>
          <c:order val="0"/>
          <c:tx>
            <c:strRef>
              <c:f>Sheet1!$B$1</c:f>
              <c:strCache>
                <c:ptCount val="1"/>
                <c:pt idx="0">
                  <c:v>Traffic (GVs)</c:v>
                </c:pt>
              </c:strCache>
            </c:strRef>
          </c:tx>
          <c:spPr>
            <a:solidFill>
              <a:srgbClr val="5B8DB8"/>
            </a:solidFill>
            <a:effectLst/>
          </c:spPr>
          <c:invertIfNegative val="0"/>
          <c:dLbls>
            <c:numFmt formatCode="#,##0"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cat>
            <c:multiLvlStrRef>
              <c:f>Sheet1!$A$2:$A$5</c:f>
              <c:multiLvlStrCache>
                <c:ptCount val="4"/>
                <c:lvl>
                  <c:pt idx="0">
                    <c:v>1–18 Sep</c:v>
                  </c:pt>
                  <c:pt idx="1">
                    <c:v>19–25 Sep</c:v>
                  </c:pt>
                  <c:pt idx="2">
                    <c:v>26–30 Sep</c:v>
                  </c:pt>
                  <c:pt idx="3">
                    <c:v>Full Sept</c:v>
                  </c:pt>
                </c:lvl>
              </c:multiLvlStrCache>
            </c:multiLvlStrRef>
          </c:cat>
          <c:val>
            <c:numRef>
              <c:f>Sheet1!$B$2:$B$5</c:f>
              <c:numCache>
                <c:formatCode>General</c:formatCode>
                <c:ptCount val="4"/>
                <c:pt idx="0">
                  <c:v>89</c:v>
                </c:pt>
                <c:pt idx="1">
                  <c:v>-372</c:v>
                </c:pt>
                <c:pt idx="2">
                  <c:v>-315</c:v>
                </c:pt>
                <c:pt idx="3">
                  <c:v>-548</c:v>
                </c:pt>
              </c:numCache>
            </c:numRef>
          </c:val>
        </c:ser>
        <c:ser>
          <c:idx val="1"/>
          <c:order val="1"/>
          <c:tx>
            <c:strRef>
              <c:f>Sheet1!$C$1</c:f>
              <c:strCache>
                <c:ptCount val="1"/>
                <c:pt idx="0">
                  <c:v>Conversion (UCR)</c:v>
                </c:pt>
              </c:strCache>
            </c:strRef>
          </c:tx>
          <c:spPr>
            <a:solidFill>
              <a:srgbClr val="C0392B"/>
            </a:solidFill>
            <a:effectLst/>
          </c:spPr>
          <c:invertIfNegative val="0"/>
          <c:dLbls>
            <c:numFmt formatCode="#,##0"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cat>
            <c:multiLvlStrRef>
              <c:f>Sheet1!$A$2:$A$5</c:f>
              <c:multiLvlStrCache>
                <c:ptCount val="4"/>
                <c:lvl>
                  <c:pt idx="0">
                    <c:v>1–18 Sep</c:v>
                  </c:pt>
                  <c:pt idx="1">
                    <c:v>19–25 Sep</c:v>
                  </c:pt>
                  <c:pt idx="2">
                    <c:v>26–30 Sep</c:v>
                  </c:pt>
                  <c:pt idx="3">
                    <c:v>Full Sept</c:v>
                  </c:pt>
                </c:lvl>
              </c:multiLvlStrCache>
            </c:multiLvlStrRef>
          </c:cat>
          <c:val>
            <c:numRef>
              <c:f>Sheet1!$C$2:$C$5</c:f>
              <c:numCache>
                <c:formatCode>General</c:formatCode>
                <c:ptCount val="4"/>
                <c:pt idx="0">
                  <c:v>-668</c:v>
                </c:pt>
                <c:pt idx="1">
                  <c:v>-786</c:v>
                </c:pt>
                <c:pt idx="2">
                  <c:v>-681</c:v>
                </c:pt>
                <c:pt idx="3">
                  <c:v>-2163</c:v>
                </c:pt>
              </c:numCache>
            </c:numRef>
          </c:val>
        </c:ser>
        <c:ser>
          <c:idx val="2"/>
          <c:order val="2"/>
          <c:tx>
            <c:strRef>
              <c:f>Sheet1!$D$1</c:f>
              <c:strCache>
                <c:ptCount val="1"/>
                <c:pt idx="0">
                  <c:v>Price (ASP)</c:v>
                </c:pt>
              </c:strCache>
            </c:strRef>
          </c:tx>
          <c:spPr>
            <a:solidFill>
              <a:srgbClr val="7FA91E"/>
            </a:solidFill>
            <a:effectLst/>
          </c:spPr>
          <c:invertIfNegative val="0"/>
          <c:dLbls>
            <c:numFmt formatCode="#,##0"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cat>
            <c:multiLvlStrRef>
              <c:f>Sheet1!$A$2:$A$5</c:f>
              <c:multiLvlStrCache>
                <c:ptCount val="4"/>
                <c:lvl>
                  <c:pt idx="0">
                    <c:v>1–18 Sep</c:v>
                  </c:pt>
                  <c:pt idx="1">
                    <c:v>19–25 Sep</c:v>
                  </c:pt>
                  <c:pt idx="2">
                    <c:v>26–30 Sep</c:v>
                  </c:pt>
                  <c:pt idx="3">
                    <c:v>Full Sept</c:v>
                  </c:pt>
                </c:lvl>
              </c:multiLvlStrCache>
            </c:multiLvlStrRef>
          </c:cat>
          <c:val>
            <c:numRef>
              <c:f>Sheet1!$D$2:$D$5</c:f>
              <c:numCache>
                <c:formatCode>General</c:formatCode>
                <c:ptCount val="4"/>
                <c:pt idx="0">
                  <c:v>-242</c:v>
                </c:pt>
                <c:pt idx="1">
                  <c:v>189</c:v>
                </c:pt>
                <c:pt idx="2">
                  <c:v>319</c:v>
                </c:pt>
                <c:pt idx="3">
                  <c:v>243</c:v>
                </c:pt>
              </c:numCache>
            </c:numRef>
          </c:val>
        </c:ser>
        <c:dLbls>
          <c:numFmt formatCode="#,##0" sourceLinked="0"/>
          <c:txPr>
            <a:bodyPr/>
            <a:lstStyle/>
            <a:p>
              <a:pPr>
                <a:defRPr b="0" i="0" strike="noStrike" sz="1000" u="none">
                  <a:solidFill>
                    <a:srgbClr val="33373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07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6E6E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07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Namshi marketplaces (namshi, namshi_v2), Beauty business unit, samples &amp; GWP excluded, GMV incl. VAT. LY = same calendar dates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uses a log-mean (LMDI) split of the GMV change into traffic (glance views), conversion (units per GV) and price (ASP); the three bars add up to the total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Markdown % = markdown discount ÷ normal price. UCR = units ÷ glance views. In 1–18 Sep markdown ran at 21–27% TY vs 9–18% LY while UCR stayed below LY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3337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7772400" cy="118872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640080" y="3246120"/>
            <a:ext cx="7772400" cy="548640"/>
          </a:xfrm>
          <a:prstGeom prst="rect">
            <a:avLst/>
          </a:prstGeom>
          <a:noFill/>
          <a:ln/>
        </p:spPr>
        <p:txBody>
          <a:bodyPr wrap="square" rtlCol="0"/>
          <a:lstStyle>
            <a:lvl1pPr algn="l" indent="0" marL="0">
              <a:buNone/>
              <a:defRPr lang="en-US" sz="1800" dirty="0">
                <a:solidFill>
                  <a:srgbClr val="B6ED2F"/>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3337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560320"/>
            <a:ext cx="10515600" cy="1097280"/>
          </a:xfrm>
          <a:prstGeom prst="rect">
            <a:avLst/>
          </a:prstGeom>
          <a:noFill/>
          <a:ln/>
        </p:spPr>
        <p:txBody>
          <a:bodyPr wrap="square" rtlCol="0"/>
          <a:lstStyle>
            <a:lvl1pPr indent="0" marL="0">
              <a:buNone/>
              <a:defRPr lang="en-US" sz="4000" b="1" dirty="0">
                <a:solidFill>
                  <a:srgbClr val="FFFFFF"/>
                </a:solidFill>
              </a:defRPr>
            </a:lvl1pPr>
          </a:lstStyle>
          <a:p>
            <a:pPr indent="0" marL="0">
              <a:buNone/>
            </a:pPr>
            <a:endParaRPr lang="en-US" sz="4000" dirty="0"/>
          </a:p>
        </p:txBody>
      </p:sp>
      <p:sp>
        <p:nvSpPr>
          <p:cNvPr id="3" name="Text 0"/>
          <p:cNvSpPr/>
          <p:nvPr>
            <p:ph idx="101" type="body" hasCustomPrompt="1"/>
          </p:nvPr>
        </p:nvSpPr>
        <p:spPr>
          <a:xfrm>
            <a:off x="640080" y="3657600"/>
            <a:ext cx="10515600" cy="731520"/>
          </a:xfrm>
          <a:prstGeom prst="rect">
            <a:avLst/>
          </a:prstGeom>
          <a:noFill/>
          <a:ln/>
        </p:spPr>
        <p:txBody>
          <a:bodyPr wrap="square" rtlCol="0"/>
          <a:lstStyle>
            <a:lvl1pPr indent="0" marL="0">
              <a:buNone/>
              <a:defRPr lang="en-US" sz="1800" dirty="0">
                <a:solidFill>
                  <a:srgbClr val="B6ED2F"/>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2400" b="1" dirty="0">
                <a:solidFill>
                  <a:srgbClr val="33373E"/>
                </a:solidFill>
              </a:defRPr>
            </a:lvl1pPr>
          </a:lstStyle>
          <a:p>
            <a:pPr algn="l" indent="0" marL="0">
              <a:buNone/>
            </a:pP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rtlCol="0"/>
          <a:lstStyle>
            <a:lvl1pPr algn="l" indent="0" marL="0">
              <a:buNone/>
              <a:defRPr lang="en-US" sz="1300" i="1" dirty="0">
                <a:solidFill>
                  <a:srgbClr val="6B7079"/>
                </a:solidFill>
              </a:defRPr>
            </a:lvl1pPr>
          </a:lstStyle>
          <a:p>
            <a:pPr algn="l" indent="0" marL="0">
              <a:buNone/>
            </a:pPr>
            <a:endParaRPr lang="en-US" sz="1300" dirty="0"/>
          </a:p>
        </p:txBody>
      </p:sp>
      <p:sp>
        <p:nvSpPr>
          <p:cNvPr id="4"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900" dirty="0">
                <a:solidFill>
                  <a:srgbClr val="9AA0A8"/>
                </a:solidFill>
              </a:rPr>
              <a:t>Namshi Beauty  |  September 2026 vs September 2025  |  Source: BigQuery sales_metrics + onsite_measures</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chart" Target="/ppt/charts/chart6.xml"/><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920240"/>
            <a:ext cx="7772400" cy="1188720"/>
          </a:xfrm>
          <a:prstGeom prst="rect">
            <a:avLst/>
          </a:prstGeom>
          <a:noFill/>
          <a:ln/>
        </p:spPr>
        <p:txBody>
          <a:bodyPr wrap="square" lIns="0" tIns="0" rIns="0" bIns="0" rtlCol="0" anchor="b"/>
          <a:lstStyle/>
          <a:p>
            <a:pPr algn="l" indent="0" marL="0">
              <a:buNone/>
            </a:pPr>
            <a:r>
              <a:rPr lang="en-US" sz="4400" b="1" dirty="0">
                <a:solidFill>
                  <a:srgbClr val="FFFFFF"/>
                </a:solidFill>
              </a:rPr>
              <a:t>Beauty performance review</a:t>
            </a:r>
            <a:endParaRPr lang="en-US" sz="4400" dirty="0"/>
          </a:p>
        </p:txBody>
      </p:sp>
      <p:sp>
        <p:nvSpPr>
          <p:cNvPr id="3" name="Text 0"/>
          <p:cNvSpPr/>
          <p:nvPr>
            <p:ph idx="101" type="body" hasCustomPrompt="1"/>
          </p:nvPr>
        </p:nvSpPr>
        <p:spPr>
          <a:xfrm>
            <a:off x="640080" y="3246120"/>
            <a:ext cx="7772400" cy="548640"/>
          </a:xfrm>
          <a:prstGeom prst="rect">
            <a:avLst/>
          </a:prstGeom>
          <a:noFill/>
          <a:ln/>
        </p:spPr>
        <p:txBody>
          <a:bodyPr wrap="square" lIns="0" tIns="0" rIns="0" bIns="0" rtlCol="0"/>
          <a:lstStyle/>
          <a:p>
            <a:pPr algn="l" indent="0" marL="0">
              <a:buNone/>
            </a:pPr>
            <a:r>
              <a:rPr lang="en-US" sz="1800" dirty="0">
                <a:solidFill>
                  <a:srgbClr val="B6ED2F"/>
                </a:solidFill>
              </a:rPr>
              <a:t>September 2026 vs LY  ·  October MTD to follow</a:t>
            </a:r>
            <a:endParaRPr lang="en-US" sz="1800" dirty="0"/>
          </a:p>
        </p:txBody>
      </p:sp>
      <p:sp>
        <p:nvSpPr>
          <p:cNvPr id="4" name="Text 2"/>
          <p:cNvSpPr txBox="1"/>
          <p:nvPr/>
        </p:nvSpPr>
        <p:spPr>
          <a:xfrm>
            <a:off x="640080" y="4754880"/>
            <a:ext cx="2468880" cy="548640"/>
          </a:xfrm>
          <a:prstGeom prst="rect">
            <a:avLst/>
          </a:prstGeom>
          <a:noFill/>
          <a:ln/>
        </p:spPr>
        <p:txBody>
          <a:bodyPr wrap="square" lIns="0" tIns="0" rIns="0" bIns="0" rtlCol="0" anchor="t"/>
          <a:lstStyle/>
          <a:p>
            <a:pPr indent="0" marL="0">
              <a:buNone/>
            </a:pPr>
            <a:r>
              <a:rPr lang="en-US" sz="3000" b="1" dirty="0">
                <a:solidFill>
                  <a:srgbClr val="FFFFFF"/>
                </a:solidFill>
              </a:rPr>
              <a:t>6.38M AED</a:t>
            </a:r>
            <a:endParaRPr lang="en-US" sz="3000" dirty="0"/>
          </a:p>
        </p:txBody>
      </p:sp>
      <p:sp>
        <p:nvSpPr>
          <p:cNvPr id="5" name="Text 3"/>
          <p:cNvSpPr txBox="1"/>
          <p:nvPr/>
        </p:nvSpPr>
        <p:spPr>
          <a:xfrm>
            <a:off x="640080" y="5303520"/>
            <a:ext cx="2468880" cy="274320"/>
          </a:xfrm>
          <a:prstGeom prst="rect">
            <a:avLst/>
          </a:prstGeom>
          <a:noFill/>
          <a:ln/>
        </p:spPr>
        <p:txBody>
          <a:bodyPr wrap="square" lIns="0" tIns="0" rIns="0" bIns="0" rtlCol="0" anchor="t"/>
          <a:lstStyle/>
          <a:p>
            <a:pPr indent="0" marL="0">
              <a:buNone/>
            </a:pPr>
            <a:r>
              <a:rPr lang="en-US" sz="1200" dirty="0">
                <a:solidFill>
                  <a:srgbClr val="C8CCD2"/>
                </a:solidFill>
              </a:rPr>
              <a:t>GMV</a:t>
            </a:r>
            <a:endParaRPr lang="en-US" sz="1200" dirty="0"/>
          </a:p>
        </p:txBody>
      </p:sp>
      <p:sp>
        <p:nvSpPr>
          <p:cNvPr id="6" name="Text 4"/>
          <p:cNvSpPr txBox="1"/>
          <p:nvPr/>
        </p:nvSpPr>
        <p:spPr>
          <a:xfrm>
            <a:off x="640080" y="5577840"/>
            <a:ext cx="2468880" cy="274320"/>
          </a:xfrm>
          <a:prstGeom prst="rect">
            <a:avLst/>
          </a:prstGeom>
          <a:noFill/>
          <a:ln/>
        </p:spPr>
        <p:txBody>
          <a:bodyPr wrap="square" lIns="0" tIns="0" rIns="0" bIns="0" rtlCol="0" anchor="t"/>
          <a:lstStyle/>
          <a:p>
            <a:pPr indent="0" marL="0">
              <a:buNone/>
            </a:pPr>
            <a:r>
              <a:rPr lang="en-US" sz="1300" b="1" dirty="0">
                <a:solidFill>
                  <a:srgbClr val="FF9AA2"/>
                </a:solidFill>
              </a:rPr>
              <a:t>−27.9% vs LY</a:t>
            </a:r>
            <a:endParaRPr lang="en-US" sz="1300" dirty="0"/>
          </a:p>
        </p:txBody>
      </p:sp>
      <p:sp>
        <p:nvSpPr>
          <p:cNvPr id="7" name="Text 5"/>
          <p:cNvSpPr txBox="1"/>
          <p:nvPr/>
        </p:nvSpPr>
        <p:spPr>
          <a:xfrm>
            <a:off x="3291840" y="4754880"/>
            <a:ext cx="2468880" cy="548640"/>
          </a:xfrm>
          <a:prstGeom prst="rect">
            <a:avLst/>
          </a:prstGeom>
          <a:noFill/>
          <a:ln/>
        </p:spPr>
        <p:txBody>
          <a:bodyPr wrap="square" lIns="0" tIns="0" rIns="0" bIns="0" rtlCol="0" anchor="t"/>
          <a:lstStyle/>
          <a:p>
            <a:pPr indent="0" marL="0">
              <a:buNone/>
            </a:pPr>
            <a:r>
              <a:rPr lang="en-US" sz="3000" b="1" dirty="0">
                <a:solidFill>
                  <a:srgbClr val="FFFFFF"/>
                </a:solidFill>
              </a:rPr>
              <a:t>1.71%</a:t>
            </a:r>
            <a:endParaRPr lang="en-US" sz="3000" dirty="0"/>
          </a:p>
        </p:txBody>
      </p:sp>
      <p:sp>
        <p:nvSpPr>
          <p:cNvPr id="8" name="Text 6"/>
          <p:cNvSpPr txBox="1"/>
          <p:nvPr/>
        </p:nvSpPr>
        <p:spPr>
          <a:xfrm>
            <a:off x="3291840" y="5303520"/>
            <a:ext cx="2468880" cy="274320"/>
          </a:xfrm>
          <a:prstGeom prst="rect">
            <a:avLst/>
          </a:prstGeom>
          <a:noFill/>
          <a:ln/>
        </p:spPr>
        <p:txBody>
          <a:bodyPr wrap="square" lIns="0" tIns="0" rIns="0" bIns="0" rtlCol="0" anchor="t"/>
          <a:lstStyle/>
          <a:p>
            <a:pPr indent="0" marL="0">
              <a:buNone/>
            </a:pPr>
            <a:r>
              <a:rPr lang="en-US" sz="1200" dirty="0">
                <a:solidFill>
                  <a:srgbClr val="C8CCD2"/>
                </a:solidFill>
              </a:rPr>
              <a:t>UCR (units ÷ GVs)</a:t>
            </a:r>
            <a:endParaRPr lang="en-US" sz="1200" dirty="0"/>
          </a:p>
        </p:txBody>
      </p:sp>
      <p:sp>
        <p:nvSpPr>
          <p:cNvPr id="9" name="Text 7"/>
          <p:cNvSpPr txBox="1"/>
          <p:nvPr/>
        </p:nvSpPr>
        <p:spPr>
          <a:xfrm>
            <a:off x="3291840" y="5577840"/>
            <a:ext cx="2468880" cy="274320"/>
          </a:xfrm>
          <a:prstGeom prst="rect">
            <a:avLst/>
          </a:prstGeom>
          <a:noFill/>
          <a:ln/>
        </p:spPr>
        <p:txBody>
          <a:bodyPr wrap="square" lIns="0" tIns="0" rIns="0" bIns="0" rtlCol="0" anchor="t"/>
          <a:lstStyle/>
          <a:p>
            <a:pPr indent="0" marL="0">
              <a:buNone/>
            </a:pPr>
            <a:r>
              <a:rPr lang="en-US" sz="1300" b="1" dirty="0">
                <a:solidFill>
                  <a:srgbClr val="FF9AA2"/>
                </a:solidFill>
              </a:rPr>
              <a:t>−0.57 pp vs LY</a:t>
            </a:r>
            <a:endParaRPr lang="en-US" sz="1300" dirty="0"/>
          </a:p>
        </p:txBody>
      </p:sp>
      <p:sp>
        <p:nvSpPr>
          <p:cNvPr id="10" name="Text 8"/>
          <p:cNvSpPr txBox="1"/>
          <p:nvPr/>
        </p:nvSpPr>
        <p:spPr>
          <a:xfrm>
            <a:off x="5943600" y="4754880"/>
            <a:ext cx="2468880" cy="548640"/>
          </a:xfrm>
          <a:prstGeom prst="rect">
            <a:avLst/>
          </a:prstGeom>
          <a:noFill/>
          <a:ln/>
        </p:spPr>
        <p:txBody>
          <a:bodyPr wrap="square" lIns="0" tIns="0" rIns="0" bIns="0" rtlCol="0" anchor="t"/>
          <a:lstStyle/>
          <a:p>
            <a:pPr indent="0" marL="0">
              <a:buNone/>
            </a:pPr>
            <a:r>
              <a:rPr lang="en-US" sz="3000" b="1" dirty="0">
                <a:solidFill>
                  <a:srgbClr val="FFFFFF"/>
                </a:solidFill>
              </a:rPr>
              <a:t>4.08M</a:t>
            </a:r>
            <a:endParaRPr lang="en-US" sz="3000" dirty="0"/>
          </a:p>
        </p:txBody>
      </p:sp>
      <p:sp>
        <p:nvSpPr>
          <p:cNvPr id="11" name="Text 9"/>
          <p:cNvSpPr txBox="1"/>
          <p:nvPr/>
        </p:nvSpPr>
        <p:spPr>
          <a:xfrm>
            <a:off x="5943600" y="5303520"/>
            <a:ext cx="2468880" cy="274320"/>
          </a:xfrm>
          <a:prstGeom prst="rect">
            <a:avLst/>
          </a:prstGeom>
          <a:noFill/>
          <a:ln/>
        </p:spPr>
        <p:txBody>
          <a:bodyPr wrap="square" lIns="0" tIns="0" rIns="0" bIns="0" rtlCol="0" anchor="t"/>
          <a:lstStyle/>
          <a:p>
            <a:pPr indent="0" marL="0">
              <a:buNone/>
            </a:pPr>
            <a:r>
              <a:rPr lang="en-US" sz="1200" dirty="0">
                <a:solidFill>
                  <a:srgbClr val="C8CCD2"/>
                </a:solidFill>
              </a:rPr>
              <a:t>Glance views</a:t>
            </a:r>
            <a:endParaRPr lang="en-US" sz="1200" dirty="0"/>
          </a:p>
        </p:txBody>
      </p:sp>
      <p:sp>
        <p:nvSpPr>
          <p:cNvPr id="12" name="Text 10"/>
          <p:cNvSpPr txBox="1"/>
          <p:nvPr/>
        </p:nvSpPr>
        <p:spPr>
          <a:xfrm>
            <a:off x="5943600" y="5577840"/>
            <a:ext cx="2468880" cy="274320"/>
          </a:xfrm>
          <a:prstGeom prst="rect">
            <a:avLst/>
          </a:prstGeom>
          <a:noFill/>
          <a:ln/>
        </p:spPr>
        <p:txBody>
          <a:bodyPr wrap="square" lIns="0" tIns="0" rIns="0" bIns="0" rtlCol="0" anchor="t"/>
          <a:lstStyle/>
          <a:p>
            <a:pPr indent="0" marL="0">
              <a:buNone/>
            </a:pPr>
            <a:r>
              <a:rPr lang="en-US" sz="1300" b="1" dirty="0">
                <a:solidFill>
                  <a:srgbClr val="FF9AA2"/>
                </a:solidFill>
              </a:rPr>
              <a:t>−7.0% vs LY</a:t>
            </a:r>
            <a:endParaRPr lang="en-US" sz="1300" dirty="0"/>
          </a:p>
        </p:txBody>
      </p:sp>
      <p:sp>
        <p:nvSpPr>
          <p:cNvPr id="13" name="Text 11"/>
          <p:cNvSpPr txBox="1"/>
          <p:nvPr/>
        </p:nvSpPr>
        <p:spPr>
          <a:xfrm>
            <a:off x="8595360" y="4754880"/>
            <a:ext cx="2468880" cy="548640"/>
          </a:xfrm>
          <a:prstGeom prst="rect">
            <a:avLst/>
          </a:prstGeom>
          <a:noFill/>
          <a:ln/>
        </p:spPr>
        <p:txBody>
          <a:bodyPr wrap="square" lIns="0" tIns="0" rIns="0" bIns="0" rtlCol="0" anchor="t"/>
          <a:lstStyle/>
          <a:p>
            <a:pPr indent="0" marL="0">
              <a:buNone/>
            </a:pPr>
            <a:r>
              <a:rPr lang="en-US" sz="3000" b="1" dirty="0">
                <a:solidFill>
                  <a:srgbClr val="FFFFFF"/>
                </a:solidFill>
              </a:rPr>
              <a:t>22.8%</a:t>
            </a:r>
            <a:endParaRPr lang="en-US" sz="3000" dirty="0"/>
          </a:p>
        </p:txBody>
      </p:sp>
      <p:sp>
        <p:nvSpPr>
          <p:cNvPr id="14" name="Text 12"/>
          <p:cNvSpPr txBox="1"/>
          <p:nvPr/>
        </p:nvSpPr>
        <p:spPr>
          <a:xfrm>
            <a:off x="8595360" y="5303520"/>
            <a:ext cx="2468880" cy="274320"/>
          </a:xfrm>
          <a:prstGeom prst="rect">
            <a:avLst/>
          </a:prstGeom>
          <a:noFill/>
          <a:ln/>
        </p:spPr>
        <p:txBody>
          <a:bodyPr wrap="square" lIns="0" tIns="0" rIns="0" bIns="0" rtlCol="0" anchor="t"/>
          <a:lstStyle/>
          <a:p>
            <a:pPr indent="0" marL="0">
              <a:buNone/>
            </a:pPr>
            <a:r>
              <a:rPr lang="en-US" sz="1200" dirty="0">
                <a:solidFill>
                  <a:srgbClr val="C8CCD2"/>
                </a:solidFill>
              </a:rPr>
              <a:t>Markdown</a:t>
            </a:r>
            <a:endParaRPr lang="en-US" sz="1200" dirty="0"/>
          </a:p>
        </p:txBody>
      </p:sp>
      <p:sp>
        <p:nvSpPr>
          <p:cNvPr id="15" name="Text 13"/>
          <p:cNvSpPr txBox="1"/>
          <p:nvPr/>
        </p:nvSpPr>
        <p:spPr>
          <a:xfrm>
            <a:off x="8595360" y="5577840"/>
            <a:ext cx="2468880" cy="274320"/>
          </a:xfrm>
          <a:prstGeom prst="rect">
            <a:avLst/>
          </a:prstGeom>
          <a:noFill/>
          <a:ln/>
        </p:spPr>
        <p:txBody>
          <a:bodyPr wrap="square" lIns="0" tIns="0" rIns="0" bIns="0" rtlCol="0" anchor="t"/>
          <a:lstStyle/>
          <a:p>
            <a:pPr indent="0" marL="0">
              <a:buNone/>
            </a:pPr>
            <a:r>
              <a:rPr lang="en-US" sz="1300" b="1" dirty="0">
                <a:solidFill>
                  <a:srgbClr val="F5C26B"/>
                </a:solidFill>
              </a:rPr>
              <a:t>+2.5 pp vs LY</a:t>
            </a:r>
            <a:endParaRPr lang="en-US" sz="1300" dirty="0"/>
          </a:p>
        </p:txBody>
      </p:sp>
      <p:sp>
        <p:nvSpPr>
          <p:cNvPr id="16" name="Text 14"/>
          <p:cNvSpPr txBox="1"/>
          <p:nvPr/>
        </p:nvSpPr>
        <p:spPr>
          <a:xfrm>
            <a:off x="8778240" y="548640"/>
            <a:ext cx="2926080" cy="457200"/>
          </a:xfrm>
          <a:prstGeom prst="rect">
            <a:avLst/>
          </a:prstGeom>
          <a:noFill/>
          <a:ln/>
        </p:spPr>
        <p:txBody>
          <a:bodyPr wrap="square" lIns="0" tIns="0" rIns="0" bIns="0" rtlCol="0" anchor="t"/>
          <a:lstStyle/>
          <a:p>
            <a:pPr algn="r" indent="0" marL="0">
              <a:buNone/>
            </a:pPr>
            <a:r>
              <a:rPr lang="en-US" sz="2200" b="1" dirty="0">
                <a:solidFill>
                  <a:srgbClr val="B6ED2F"/>
                </a:solidFill>
              </a:rPr>
              <a:t>namshi beauty</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September GMV fell 28% vs LY; weaker conversion explains most of the gap</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GMV bridge, LY to TY (AED): GMV = glance views × conversion (units per GV) × ASP</a:t>
            </a:r>
            <a:endParaRPr lang="en-US" sz="1300" dirty="0"/>
          </a:p>
        </p:txBody>
      </p:sp>
      <p:sp>
        <p:nvSpPr>
          <p:cNvPr id="4" name="Shape 2"/>
          <p:cNvSpPr/>
          <p:nvPr/>
        </p:nvSpPr>
        <p:spPr>
          <a:xfrm>
            <a:off x="640080" y="5715000"/>
            <a:ext cx="5486400" cy="0"/>
          </a:xfrm>
          <a:prstGeom prst="line">
            <a:avLst/>
          </a:prstGeom>
          <a:noFill/>
          <a:ln w="12700">
            <a:solidFill>
              <a:srgbClr val="BBBBBB"/>
            </a:solidFill>
            <a:prstDash val="solid"/>
          </a:ln>
        </p:spPr>
      </p:sp>
      <p:sp>
        <p:nvSpPr>
          <p:cNvPr id="5" name="bridge 0"/>
          <p:cNvSpPr/>
          <p:nvPr/>
        </p:nvSpPr>
        <p:spPr>
          <a:xfrm>
            <a:off x="731520" y="2182934"/>
            <a:ext cx="777240" cy="3532066"/>
          </a:xfrm>
          <a:prstGeom prst="rect">
            <a:avLst/>
          </a:prstGeom>
          <a:solidFill>
            <a:srgbClr val="33373E"/>
          </a:solidFill>
          <a:ln/>
        </p:spPr>
      </p:sp>
      <p:sp>
        <p:nvSpPr>
          <p:cNvPr id="6" name="Text 4"/>
          <p:cNvSpPr txBox="1"/>
          <p:nvPr/>
        </p:nvSpPr>
        <p:spPr>
          <a:xfrm>
            <a:off x="548640" y="1890326"/>
            <a:ext cx="1143000" cy="256032"/>
          </a:xfrm>
          <a:prstGeom prst="rect">
            <a:avLst/>
          </a:prstGeom>
          <a:noFill/>
          <a:ln/>
        </p:spPr>
        <p:txBody>
          <a:bodyPr wrap="square" lIns="0" tIns="0" rIns="0" bIns="0" rtlCol="0" anchor="t"/>
          <a:lstStyle/>
          <a:p>
            <a:pPr algn="ctr" indent="0" marL="0">
              <a:buNone/>
            </a:pPr>
            <a:r>
              <a:rPr lang="en-US" sz="1200" b="1" dirty="0">
                <a:solidFill>
                  <a:srgbClr val="33373E"/>
                </a:solidFill>
              </a:rPr>
              <a:t>8.84M</a:t>
            </a:r>
            <a:endParaRPr lang="en-US" sz="1200" dirty="0"/>
          </a:p>
        </p:txBody>
      </p:sp>
      <p:sp>
        <p:nvSpPr>
          <p:cNvPr id="7" name="Text 5"/>
          <p:cNvSpPr txBox="1"/>
          <p:nvPr/>
        </p:nvSpPr>
        <p:spPr>
          <a:xfrm>
            <a:off x="548640" y="5788152"/>
            <a:ext cx="1143000" cy="457200"/>
          </a:xfrm>
          <a:prstGeom prst="rect">
            <a:avLst/>
          </a:prstGeom>
          <a:noFill/>
          <a:ln/>
        </p:spPr>
        <p:txBody>
          <a:bodyPr wrap="square" lIns="0" tIns="0" rIns="0" bIns="0" rtlCol="0" anchor="t"/>
          <a:lstStyle/>
          <a:p>
            <a:pPr algn="ctr" indent="0" marL="0">
              <a:buNone/>
            </a:pPr>
            <a:r>
              <a:rPr lang="en-US" sz="1100" dirty="0">
                <a:solidFill>
                  <a:srgbClr val="6B7079"/>
                </a:solidFill>
              </a:rPr>
              <a:t>LY Sept</a:t>
            </a:r>
            <a:endParaRPr lang="en-US" sz="1100" dirty="0"/>
          </a:p>
        </p:txBody>
      </p:sp>
      <p:sp>
        <p:nvSpPr>
          <p:cNvPr id="8" name="bridge 1"/>
          <p:cNvSpPr/>
          <p:nvPr/>
        </p:nvSpPr>
        <p:spPr>
          <a:xfrm>
            <a:off x="1828800" y="2182934"/>
            <a:ext cx="777240" cy="218800"/>
          </a:xfrm>
          <a:prstGeom prst="rect">
            <a:avLst/>
          </a:prstGeom>
          <a:solidFill>
            <a:srgbClr val="C0392B"/>
          </a:solidFill>
          <a:ln/>
        </p:spPr>
      </p:sp>
      <p:sp>
        <p:nvSpPr>
          <p:cNvPr id="9" name="Text 7"/>
          <p:cNvSpPr txBox="1"/>
          <p:nvPr/>
        </p:nvSpPr>
        <p:spPr>
          <a:xfrm>
            <a:off x="1645920" y="1890326"/>
            <a:ext cx="1143000" cy="256032"/>
          </a:xfrm>
          <a:prstGeom prst="rect">
            <a:avLst/>
          </a:prstGeom>
          <a:noFill/>
          <a:ln/>
        </p:spPr>
        <p:txBody>
          <a:bodyPr wrap="square" lIns="0" tIns="0" rIns="0" bIns="0" rtlCol="0" anchor="t"/>
          <a:lstStyle/>
          <a:p>
            <a:pPr algn="ctr" indent="0" marL="0">
              <a:buNone/>
            </a:pPr>
            <a:r>
              <a:rPr lang="en-US" sz="1200" b="1" dirty="0">
                <a:solidFill>
                  <a:srgbClr val="C0392B"/>
                </a:solidFill>
              </a:rPr>
              <a:t>−0.55M</a:t>
            </a:r>
            <a:endParaRPr lang="en-US" sz="1200" dirty="0"/>
          </a:p>
        </p:txBody>
      </p:sp>
      <p:sp>
        <p:nvSpPr>
          <p:cNvPr id="10" name="Text 8"/>
          <p:cNvSpPr txBox="1"/>
          <p:nvPr/>
        </p:nvSpPr>
        <p:spPr>
          <a:xfrm>
            <a:off x="1645920" y="5788152"/>
            <a:ext cx="1143000" cy="457200"/>
          </a:xfrm>
          <a:prstGeom prst="rect">
            <a:avLst/>
          </a:prstGeom>
          <a:noFill/>
          <a:ln/>
        </p:spPr>
        <p:txBody>
          <a:bodyPr wrap="square" lIns="0" tIns="0" rIns="0" bIns="0" rtlCol="0" anchor="t"/>
          <a:lstStyle/>
          <a:p>
            <a:pPr algn="ctr" indent="0" marL="0">
              <a:buNone/>
            </a:pPr>
            <a:r>
              <a:rPr lang="en-US" sz="1100" dirty="0">
                <a:solidFill>
                  <a:srgbClr val="6B7079"/>
                </a:solidFill>
              </a:rPr>
              <a:t>Traffic</a:t>
            </a:r>
            <a:endParaRPr lang="en-US" sz="1100" dirty="0"/>
          </a:p>
          <a:p>
            <a:pPr algn="ctr" indent="0" marL="0">
              <a:buNone/>
            </a:pPr>
            <a:r>
              <a:rPr lang="en-US" sz="1100" dirty="0">
                <a:solidFill>
                  <a:srgbClr val="6B7079"/>
                </a:solidFill>
              </a:rPr>
              <a:t>(GVs)</a:t>
            </a:r>
            <a:endParaRPr lang="en-US" sz="1100" dirty="0"/>
          </a:p>
        </p:txBody>
      </p:sp>
      <p:sp>
        <p:nvSpPr>
          <p:cNvPr id="11" name="bridge 2"/>
          <p:cNvSpPr/>
          <p:nvPr/>
        </p:nvSpPr>
        <p:spPr>
          <a:xfrm>
            <a:off x="2926080" y="2401735"/>
            <a:ext cx="777240" cy="863844"/>
          </a:xfrm>
          <a:prstGeom prst="rect">
            <a:avLst/>
          </a:prstGeom>
          <a:solidFill>
            <a:srgbClr val="C0392B"/>
          </a:solidFill>
          <a:ln/>
        </p:spPr>
      </p:sp>
      <p:sp>
        <p:nvSpPr>
          <p:cNvPr id="12" name="Text 10"/>
          <p:cNvSpPr txBox="1"/>
          <p:nvPr/>
        </p:nvSpPr>
        <p:spPr>
          <a:xfrm>
            <a:off x="2743200" y="2109127"/>
            <a:ext cx="1143000" cy="256032"/>
          </a:xfrm>
          <a:prstGeom prst="rect">
            <a:avLst/>
          </a:prstGeom>
          <a:noFill/>
          <a:ln/>
        </p:spPr>
        <p:txBody>
          <a:bodyPr wrap="square" lIns="0" tIns="0" rIns="0" bIns="0" rtlCol="0" anchor="t"/>
          <a:lstStyle/>
          <a:p>
            <a:pPr algn="ctr" indent="0" marL="0">
              <a:buNone/>
            </a:pPr>
            <a:r>
              <a:rPr lang="en-US" sz="1200" b="1" dirty="0">
                <a:solidFill>
                  <a:srgbClr val="C0392B"/>
                </a:solidFill>
              </a:rPr>
              <a:t>−2.16M</a:t>
            </a:r>
            <a:endParaRPr lang="en-US" sz="1200" dirty="0"/>
          </a:p>
        </p:txBody>
      </p:sp>
      <p:sp>
        <p:nvSpPr>
          <p:cNvPr id="13" name="Text 11"/>
          <p:cNvSpPr txBox="1"/>
          <p:nvPr/>
        </p:nvSpPr>
        <p:spPr>
          <a:xfrm>
            <a:off x="2743200" y="5788152"/>
            <a:ext cx="1143000" cy="457200"/>
          </a:xfrm>
          <a:prstGeom prst="rect">
            <a:avLst/>
          </a:prstGeom>
          <a:noFill/>
          <a:ln/>
        </p:spPr>
        <p:txBody>
          <a:bodyPr wrap="square" lIns="0" tIns="0" rIns="0" bIns="0" rtlCol="0" anchor="t"/>
          <a:lstStyle/>
          <a:p>
            <a:pPr algn="ctr" indent="0" marL="0">
              <a:buNone/>
            </a:pPr>
            <a:r>
              <a:rPr lang="en-US" sz="1100" dirty="0">
                <a:solidFill>
                  <a:srgbClr val="6B7079"/>
                </a:solidFill>
              </a:rPr>
              <a:t>Conversion</a:t>
            </a:r>
            <a:endParaRPr lang="en-US" sz="1100" dirty="0"/>
          </a:p>
          <a:p>
            <a:pPr algn="ctr" indent="0" marL="0">
              <a:buNone/>
            </a:pPr>
            <a:r>
              <a:rPr lang="en-US" sz="1100" dirty="0">
                <a:solidFill>
                  <a:srgbClr val="6B7079"/>
                </a:solidFill>
              </a:rPr>
              <a:t>(UCR)</a:t>
            </a:r>
            <a:endParaRPr lang="en-US" sz="1100" dirty="0"/>
          </a:p>
        </p:txBody>
      </p:sp>
      <p:sp>
        <p:nvSpPr>
          <p:cNvPr id="14" name="bridge 3"/>
          <p:cNvSpPr/>
          <p:nvPr/>
        </p:nvSpPr>
        <p:spPr>
          <a:xfrm>
            <a:off x="4023360" y="3168512"/>
            <a:ext cx="777240" cy="97067"/>
          </a:xfrm>
          <a:prstGeom prst="rect">
            <a:avLst/>
          </a:prstGeom>
          <a:solidFill>
            <a:srgbClr val="2E7D32"/>
          </a:solidFill>
          <a:ln/>
        </p:spPr>
      </p:sp>
      <p:sp>
        <p:nvSpPr>
          <p:cNvPr id="15" name="Text 13"/>
          <p:cNvSpPr txBox="1"/>
          <p:nvPr/>
        </p:nvSpPr>
        <p:spPr>
          <a:xfrm>
            <a:off x="3840480" y="2875904"/>
            <a:ext cx="1143000" cy="256032"/>
          </a:xfrm>
          <a:prstGeom prst="rect">
            <a:avLst/>
          </a:prstGeom>
          <a:noFill/>
          <a:ln/>
        </p:spPr>
        <p:txBody>
          <a:bodyPr wrap="square" lIns="0" tIns="0" rIns="0" bIns="0" rtlCol="0" anchor="t"/>
          <a:lstStyle/>
          <a:p>
            <a:pPr algn="ctr" indent="0" marL="0">
              <a:buNone/>
            </a:pPr>
            <a:r>
              <a:rPr lang="en-US" sz="1200" b="1" dirty="0">
                <a:solidFill>
                  <a:srgbClr val="2E7D32"/>
                </a:solidFill>
              </a:rPr>
              <a:t>+0.24M</a:t>
            </a:r>
            <a:endParaRPr lang="en-US" sz="1200" dirty="0"/>
          </a:p>
        </p:txBody>
      </p:sp>
      <p:sp>
        <p:nvSpPr>
          <p:cNvPr id="16" name="Text 14"/>
          <p:cNvSpPr txBox="1"/>
          <p:nvPr/>
        </p:nvSpPr>
        <p:spPr>
          <a:xfrm>
            <a:off x="3840480" y="5788152"/>
            <a:ext cx="1143000" cy="457200"/>
          </a:xfrm>
          <a:prstGeom prst="rect">
            <a:avLst/>
          </a:prstGeom>
          <a:noFill/>
          <a:ln/>
        </p:spPr>
        <p:txBody>
          <a:bodyPr wrap="square" lIns="0" tIns="0" rIns="0" bIns="0" rtlCol="0" anchor="t"/>
          <a:lstStyle/>
          <a:p>
            <a:pPr algn="ctr" indent="0" marL="0">
              <a:buNone/>
            </a:pPr>
            <a:r>
              <a:rPr lang="en-US" sz="1100" dirty="0">
                <a:solidFill>
                  <a:srgbClr val="6B7079"/>
                </a:solidFill>
              </a:rPr>
              <a:t>Price</a:t>
            </a:r>
            <a:endParaRPr lang="en-US" sz="1100" dirty="0"/>
          </a:p>
          <a:p>
            <a:pPr algn="ctr" indent="0" marL="0">
              <a:buNone/>
            </a:pPr>
            <a:r>
              <a:rPr lang="en-US" sz="1100" dirty="0">
                <a:solidFill>
                  <a:srgbClr val="6B7079"/>
                </a:solidFill>
              </a:rPr>
              <a:t>(ASP)</a:t>
            </a:r>
            <a:endParaRPr lang="en-US" sz="1100" dirty="0"/>
          </a:p>
        </p:txBody>
      </p:sp>
      <p:sp>
        <p:nvSpPr>
          <p:cNvPr id="17" name="bridge 4"/>
          <p:cNvSpPr/>
          <p:nvPr/>
        </p:nvSpPr>
        <p:spPr>
          <a:xfrm>
            <a:off x="5120640" y="3168512"/>
            <a:ext cx="777240" cy="2546488"/>
          </a:xfrm>
          <a:prstGeom prst="rect">
            <a:avLst/>
          </a:prstGeom>
          <a:solidFill>
            <a:srgbClr val="7FA91E"/>
          </a:solidFill>
          <a:ln/>
        </p:spPr>
      </p:sp>
      <p:sp>
        <p:nvSpPr>
          <p:cNvPr id="18" name="Text 16"/>
          <p:cNvSpPr txBox="1"/>
          <p:nvPr/>
        </p:nvSpPr>
        <p:spPr>
          <a:xfrm>
            <a:off x="4937760" y="2875904"/>
            <a:ext cx="1143000" cy="256032"/>
          </a:xfrm>
          <a:prstGeom prst="rect">
            <a:avLst/>
          </a:prstGeom>
          <a:noFill/>
          <a:ln/>
        </p:spPr>
        <p:txBody>
          <a:bodyPr wrap="square" lIns="0" tIns="0" rIns="0" bIns="0" rtlCol="0" anchor="t"/>
          <a:lstStyle/>
          <a:p>
            <a:pPr algn="ctr" indent="0" marL="0">
              <a:buNone/>
            </a:pPr>
            <a:r>
              <a:rPr lang="en-US" sz="1200" b="1" dirty="0">
                <a:solidFill>
                  <a:srgbClr val="33373E"/>
                </a:solidFill>
              </a:rPr>
              <a:t>6.38M</a:t>
            </a:r>
            <a:endParaRPr lang="en-US" sz="1200" dirty="0"/>
          </a:p>
        </p:txBody>
      </p:sp>
      <p:sp>
        <p:nvSpPr>
          <p:cNvPr id="19" name="Text 17"/>
          <p:cNvSpPr txBox="1"/>
          <p:nvPr/>
        </p:nvSpPr>
        <p:spPr>
          <a:xfrm>
            <a:off x="4937760" y="5788152"/>
            <a:ext cx="1143000" cy="457200"/>
          </a:xfrm>
          <a:prstGeom prst="rect">
            <a:avLst/>
          </a:prstGeom>
          <a:noFill/>
          <a:ln/>
        </p:spPr>
        <p:txBody>
          <a:bodyPr wrap="square" lIns="0" tIns="0" rIns="0" bIns="0" rtlCol="0" anchor="t"/>
          <a:lstStyle/>
          <a:p>
            <a:pPr algn="ctr" indent="0" marL="0">
              <a:buNone/>
            </a:pPr>
            <a:r>
              <a:rPr lang="en-US" sz="1100" dirty="0">
                <a:solidFill>
                  <a:srgbClr val="6B7079"/>
                </a:solidFill>
              </a:rPr>
              <a:t>TY Sept</a:t>
            </a:r>
            <a:endParaRPr lang="en-US" sz="1100" dirty="0"/>
          </a:p>
        </p:txBody>
      </p:sp>
      <p:sp>
        <p:nvSpPr>
          <p:cNvPr id="20" name="Shape 18"/>
          <p:cNvSpPr/>
          <p:nvPr/>
        </p:nvSpPr>
        <p:spPr>
          <a:xfrm>
            <a:off x="6492240" y="1709928"/>
            <a:ext cx="384048" cy="384048"/>
          </a:xfrm>
          <a:prstGeom prst="ellipse">
            <a:avLst/>
          </a:prstGeom>
          <a:solidFill>
            <a:srgbClr val="B6ED2F"/>
          </a:solidFill>
          <a:ln/>
        </p:spPr>
      </p:sp>
      <p:sp>
        <p:nvSpPr>
          <p:cNvPr id="21" name="Text 19"/>
          <p:cNvSpPr txBox="1"/>
          <p:nvPr/>
        </p:nvSpPr>
        <p:spPr>
          <a:xfrm>
            <a:off x="6492240" y="1709928"/>
            <a:ext cx="384048" cy="384048"/>
          </a:xfrm>
          <a:prstGeom prst="rect">
            <a:avLst/>
          </a:prstGeom>
          <a:noFill/>
          <a:ln/>
        </p:spPr>
        <p:txBody>
          <a:bodyPr wrap="square" lIns="0" tIns="0" rIns="0" bIns="0" rtlCol="0" anchor="ctr"/>
          <a:lstStyle/>
          <a:p>
            <a:pPr algn="ctr" indent="0" marL="0">
              <a:buNone/>
            </a:pPr>
            <a:r>
              <a:rPr lang="en-US" sz="1400" b="1" dirty="0">
                <a:solidFill>
                  <a:srgbClr val="33373E"/>
                </a:solidFill>
              </a:rPr>
              <a:t>1</a:t>
            </a:r>
            <a:endParaRPr lang="en-US" sz="1400" dirty="0"/>
          </a:p>
        </p:txBody>
      </p:sp>
      <p:sp>
        <p:nvSpPr>
          <p:cNvPr id="22" name="Text 20"/>
          <p:cNvSpPr txBox="1"/>
          <p:nvPr/>
        </p:nvSpPr>
        <p:spPr>
          <a:xfrm>
            <a:off x="7040880" y="1691640"/>
            <a:ext cx="4572000" cy="292608"/>
          </a:xfrm>
          <a:prstGeom prst="rect">
            <a:avLst/>
          </a:prstGeom>
          <a:noFill/>
          <a:ln/>
        </p:spPr>
        <p:txBody>
          <a:bodyPr wrap="square" lIns="0" tIns="0" rIns="0" bIns="0" rtlCol="0" anchor="t"/>
          <a:lstStyle/>
          <a:p>
            <a:pPr indent="0" marL="0">
              <a:buNone/>
            </a:pPr>
            <a:r>
              <a:rPr lang="en-US" sz="1500" b="1" dirty="0">
                <a:solidFill>
                  <a:srgbClr val="33373E"/>
                </a:solidFill>
              </a:rPr>
              <a:t>Conversion is the main drag</a:t>
            </a:r>
            <a:endParaRPr lang="en-US" sz="1500" dirty="0"/>
          </a:p>
        </p:txBody>
      </p:sp>
      <p:sp>
        <p:nvSpPr>
          <p:cNvPr id="23" name="Text 21"/>
          <p:cNvSpPr txBox="1"/>
          <p:nvPr/>
        </p:nvSpPr>
        <p:spPr>
          <a:xfrm>
            <a:off x="7040880" y="2011680"/>
            <a:ext cx="4572000" cy="731520"/>
          </a:xfrm>
          <a:prstGeom prst="rect">
            <a:avLst/>
          </a:prstGeom>
          <a:noFill/>
          <a:ln/>
        </p:spPr>
        <p:txBody>
          <a:bodyPr wrap="square" lIns="0" tIns="0" rIns="0" bIns="0" rtlCol="0" anchor="t"/>
          <a:lstStyle/>
          <a:p>
            <a:pPr indent="0" marL="0">
              <a:buNone/>
            </a:pPr>
            <a:r>
              <a:rPr lang="en-US" sz="1250" dirty="0">
                <a:solidFill>
                  <a:srgbClr val="41464E"/>
                </a:solidFill>
              </a:rPr>
              <a:t>UCR fell to 1.71% from 2.28%, worth −2.16M AED. GVs −7.0%, ASP +3.3%.</a:t>
            </a:r>
            <a:endParaRPr lang="en-US" sz="1250" dirty="0"/>
          </a:p>
        </p:txBody>
      </p:sp>
      <p:sp>
        <p:nvSpPr>
          <p:cNvPr id="24" name="Shape 22"/>
          <p:cNvSpPr/>
          <p:nvPr/>
        </p:nvSpPr>
        <p:spPr>
          <a:xfrm>
            <a:off x="6492240" y="2852928"/>
            <a:ext cx="384048" cy="384048"/>
          </a:xfrm>
          <a:prstGeom prst="ellipse">
            <a:avLst/>
          </a:prstGeom>
          <a:solidFill>
            <a:srgbClr val="B6ED2F"/>
          </a:solidFill>
          <a:ln/>
        </p:spPr>
      </p:sp>
      <p:sp>
        <p:nvSpPr>
          <p:cNvPr id="25" name="Text 23"/>
          <p:cNvSpPr txBox="1"/>
          <p:nvPr/>
        </p:nvSpPr>
        <p:spPr>
          <a:xfrm>
            <a:off x="6492240" y="2852928"/>
            <a:ext cx="384048" cy="384048"/>
          </a:xfrm>
          <a:prstGeom prst="rect">
            <a:avLst/>
          </a:prstGeom>
          <a:noFill/>
          <a:ln/>
        </p:spPr>
        <p:txBody>
          <a:bodyPr wrap="square" lIns="0" tIns="0" rIns="0" bIns="0" rtlCol="0" anchor="ctr"/>
          <a:lstStyle/>
          <a:p>
            <a:pPr algn="ctr" indent="0" marL="0">
              <a:buNone/>
            </a:pPr>
            <a:r>
              <a:rPr lang="en-US" sz="1400" b="1" dirty="0">
                <a:solidFill>
                  <a:srgbClr val="33373E"/>
                </a:solidFill>
              </a:rPr>
              <a:t>2</a:t>
            </a:r>
            <a:endParaRPr lang="en-US" sz="1400" dirty="0"/>
          </a:p>
        </p:txBody>
      </p:sp>
      <p:sp>
        <p:nvSpPr>
          <p:cNvPr id="26" name="Text 24"/>
          <p:cNvSpPr txBox="1"/>
          <p:nvPr/>
        </p:nvSpPr>
        <p:spPr>
          <a:xfrm>
            <a:off x="7040880" y="2834640"/>
            <a:ext cx="4572000" cy="292608"/>
          </a:xfrm>
          <a:prstGeom prst="rect">
            <a:avLst/>
          </a:prstGeom>
          <a:noFill/>
          <a:ln/>
        </p:spPr>
        <p:txBody>
          <a:bodyPr wrap="square" lIns="0" tIns="0" rIns="0" bIns="0" rtlCol="0" anchor="t"/>
          <a:lstStyle/>
          <a:p>
            <a:pPr indent="0" marL="0">
              <a:buNone/>
            </a:pPr>
            <a:r>
              <a:rPr lang="en-US" sz="1500" b="1" dirty="0">
                <a:solidFill>
                  <a:srgbClr val="33373E"/>
                </a:solidFill>
              </a:rPr>
              <a:t>Retail down, marketplace up</a:t>
            </a:r>
            <a:endParaRPr lang="en-US" sz="1500" dirty="0"/>
          </a:p>
        </p:txBody>
      </p:sp>
      <p:sp>
        <p:nvSpPr>
          <p:cNvPr id="27" name="Text 25"/>
          <p:cNvSpPr txBox="1"/>
          <p:nvPr/>
        </p:nvSpPr>
        <p:spPr>
          <a:xfrm>
            <a:off x="7040880" y="3154680"/>
            <a:ext cx="4572000" cy="731520"/>
          </a:xfrm>
          <a:prstGeom prst="rect">
            <a:avLst/>
          </a:prstGeom>
          <a:noFill/>
          <a:ln/>
        </p:spPr>
        <p:txBody>
          <a:bodyPr wrap="square" lIns="0" tIns="0" rIns="0" bIns="0" rtlCol="0" anchor="t"/>
          <a:lstStyle/>
          <a:p>
            <a:pPr indent="0" marL="0">
              <a:buNone/>
            </a:pPr>
            <a:r>
              <a:rPr lang="en-US" sz="1250" dirty="0">
                <a:solidFill>
                  <a:srgbClr val="41464E"/>
                </a:solidFill>
              </a:rPr>
              <a:t>Retail −36.6% (5.13M vs 8.10M); MP +66.6%, now 19% of GMV vs 8% LY.</a:t>
            </a:r>
            <a:endParaRPr lang="en-US" sz="1250" dirty="0"/>
          </a:p>
        </p:txBody>
      </p:sp>
      <p:sp>
        <p:nvSpPr>
          <p:cNvPr id="28" name="Shape 26"/>
          <p:cNvSpPr/>
          <p:nvPr/>
        </p:nvSpPr>
        <p:spPr>
          <a:xfrm>
            <a:off x="6492240" y="3995928"/>
            <a:ext cx="384048" cy="384048"/>
          </a:xfrm>
          <a:prstGeom prst="ellipse">
            <a:avLst/>
          </a:prstGeom>
          <a:solidFill>
            <a:srgbClr val="B6ED2F"/>
          </a:solidFill>
          <a:ln/>
        </p:spPr>
      </p:sp>
      <p:sp>
        <p:nvSpPr>
          <p:cNvPr id="29" name="Text 27"/>
          <p:cNvSpPr txBox="1"/>
          <p:nvPr/>
        </p:nvSpPr>
        <p:spPr>
          <a:xfrm>
            <a:off x="6492240" y="3995928"/>
            <a:ext cx="384048" cy="384048"/>
          </a:xfrm>
          <a:prstGeom prst="rect">
            <a:avLst/>
          </a:prstGeom>
          <a:noFill/>
          <a:ln/>
        </p:spPr>
        <p:txBody>
          <a:bodyPr wrap="square" lIns="0" tIns="0" rIns="0" bIns="0" rtlCol="0" anchor="ctr"/>
          <a:lstStyle/>
          <a:p>
            <a:pPr algn="ctr" indent="0" marL="0">
              <a:buNone/>
            </a:pPr>
            <a:r>
              <a:rPr lang="en-US" sz="1400" b="1" dirty="0">
                <a:solidFill>
                  <a:srgbClr val="33373E"/>
                </a:solidFill>
              </a:rPr>
              <a:t>3</a:t>
            </a:r>
            <a:endParaRPr lang="en-US" sz="1400" dirty="0"/>
          </a:p>
        </p:txBody>
      </p:sp>
      <p:sp>
        <p:nvSpPr>
          <p:cNvPr id="30" name="Text 28"/>
          <p:cNvSpPr txBox="1"/>
          <p:nvPr/>
        </p:nvSpPr>
        <p:spPr>
          <a:xfrm>
            <a:off x="7040880" y="3977640"/>
            <a:ext cx="4572000" cy="292608"/>
          </a:xfrm>
          <a:prstGeom prst="rect">
            <a:avLst/>
          </a:prstGeom>
          <a:noFill/>
          <a:ln/>
        </p:spPr>
        <p:txBody>
          <a:bodyPr wrap="square" lIns="0" tIns="0" rIns="0" bIns="0" rtlCol="0" anchor="t"/>
          <a:lstStyle/>
          <a:p>
            <a:pPr indent="0" marL="0">
              <a:buNone/>
            </a:pPr>
            <a:r>
              <a:rPr lang="en-US" sz="1500" b="1" dirty="0">
                <a:solidFill>
                  <a:srgbClr val="33373E"/>
                </a:solidFill>
              </a:rPr>
              <a:t>More discount, fewer sales</a:t>
            </a:r>
            <a:endParaRPr lang="en-US" sz="1500" dirty="0"/>
          </a:p>
        </p:txBody>
      </p:sp>
      <p:sp>
        <p:nvSpPr>
          <p:cNvPr id="31" name="Text 29"/>
          <p:cNvSpPr txBox="1"/>
          <p:nvPr/>
        </p:nvSpPr>
        <p:spPr>
          <a:xfrm>
            <a:off x="7040880" y="4297680"/>
            <a:ext cx="4572000" cy="731520"/>
          </a:xfrm>
          <a:prstGeom prst="rect">
            <a:avLst/>
          </a:prstGeom>
          <a:noFill/>
          <a:ln/>
        </p:spPr>
        <p:txBody>
          <a:bodyPr wrap="square" lIns="0" tIns="0" rIns="0" bIns="0" rtlCol="0" anchor="t"/>
          <a:lstStyle/>
          <a:p>
            <a:pPr indent="0" marL="0">
              <a:buNone/>
            </a:pPr>
            <a:r>
              <a:rPr lang="en-US" sz="1250" dirty="0">
                <a:solidFill>
                  <a:srgbClr val="41464E"/>
                </a:solidFill>
              </a:rPr>
              <a:t>Markdown 22.8% vs 20.2%, but the increase sits in MP (40%); retail markdown was lower than LY (16.8% vs 20.4%).</a:t>
            </a:r>
            <a:endParaRPr lang="en-US" sz="1250" dirty="0"/>
          </a:p>
        </p:txBody>
      </p:sp>
      <p:sp>
        <p:nvSpPr>
          <p:cNvPr id="32" name="Shape 30"/>
          <p:cNvSpPr/>
          <p:nvPr/>
        </p:nvSpPr>
        <p:spPr>
          <a:xfrm>
            <a:off x="6492240" y="5138928"/>
            <a:ext cx="384048" cy="384048"/>
          </a:xfrm>
          <a:prstGeom prst="ellipse">
            <a:avLst/>
          </a:prstGeom>
          <a:solidFill>
            <a:srgbClr val="B6ED2F"/>
          </a:solidFill>
          <a:ln/>
        </p:spPr>
      </p:sp>
      <p:sp>
        <p:nvSpPr>
          <p:cNvPr id="33" name="Text 31"/>
          <p:cNvSpPr txBox="1"/>
          <p:nvPr/>
        </p:nvSpPr>
        <p:spPr>
          <a:xfrm>
            <a:off x="6492240" y="5138928"/>
            <a:ext cx="384048" cy="384048"/>
          </a:xfrm>
          <a:prstGeom prst="rect">
            <a:avLst/>
          </a:prstGeom>
          <a:noFill/>
          <a:ln/>
        </p:spPr>
        <p:txBody>
          <a:bodyPr wrap="square" lIns="0" tIns="0" rIns="0" bIns="0" rtlCol="0" anchor="ctr"/>
          <a:lstStyle/>
          <a:p>
            <a:pPr algn="ctr" indent="0" marL="0">
              <a:buNone/>
            </a:pPr>
            <a:r>
              <a:rPr lang="en-US" sz="1400" b="1" dirty="0">
                <a:solidFill>
                  <a:srgbClr val="33373E"/>
                </a:solidFill>
              </a:rPr>
              <a:t>4</a:t>
            </a:r>
            <a:endParaRPr lang="en-US" sz="1400" dirty="0"/>
          </a:p>
        </p:txBody>
      </p:sp>
      <p:sp>
        <p:nvSpPr>
          <p:cNvPr id="34" name="Text 32"/>
          <p:cNvSpPr txBox="1"/>
          <p:nvPr/>
        </p:nvSpPr>
        <p:spPr>
          <a:xfrm>
            <a:off x="7040880" y="5120640"/>
            <a:ext cx="4572000" cy="292608"/>
          </a:xfrm>
          <a:prstGeom prst="rect">
            <a:avLst/>
          </a:prstGeom>
          <a:noFill/>
          <a:ln/>
        </p:spPr>
        <p:txBody>
          <a:bodyPr wrap="square" lIns="0" tIns="0" rIns="0" bIns="0" rtlCol="0" anchor="t"/>
          <a:lstStyle/>
          <a:p>
            <a:pPr indent="0" marL="0">
              <a:buNone/>
            </a:pPr>
            <a:r>
              <a:rPr lang="en-US" sz="1500" b="1" dirty="0">
                <a:solidFill>
                  <a:srgbClr val="33373E"/>
                </a:solidFill>
              </a:rPr>
              <a:t>Gap widest on 19–25 Sep</a:t>
            </a:r>
            <a:endParaRPr lang="en-US" sz="1500" dirty="0"/>
          </a:p>
        </p:txBody>
      </p:sp>
      <p:sp>
        <p:nvSpPr>
          <p:cNvPr id="35" name="Text 33"/>
          <p:cNvSpPr txBox="1"/>
          <p:nvPr/>
        </p:nvSpPr>
        <p:spPr>
          <a:xfrm>
            <a:off x="7040880" y="5440680"/>
            <a:ext cx="4572000" cy="731520"/>
          </a:xfrm>
          <a:prstGeom prst="rect">
            <a:avLst/>
          </a:prstGeom>
          <a:noFill/>
          <a:ln/>
        </p:spPr>
        <p:txBody>
          <a:bodyPr wrap="square" lIns="0" tIns="0" rIns="0" bIns="0" rtlCol="0" anchor="t"/>
          <a:lstStyle/>
          <a:p>
            <a:pPr indent="0" marL="0">
              <a:buNone/>
            </a:pPr>
            <a:r>
              <a:rPr lang="en-US" sz="1250" dirty="0">
                <a:solidFill>
                  <a:srgbClr val="41464E"/>
                </a:solidFill>
              </a:rPr>
              <a:t>GMV −42.1%: LY ran pre-Beauty Week and National Day offers (markdown 26% vs 18% TY).</a:t>
            </a:r>
            <a:endParaRPr lang="en-US" sz="12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Overall: traffic held up better than sales; conversion and units fell hardest</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Beauty, full September (1–30 Sep), TY 2026 vs LY 2025 same dates</a:t>
            </a:r>
            <a:endParaRPr lang="en-US" sz="1300" dirty="0"/>
          </a:p>
        </p:txBody>
      </p:sp>
      <p:sp>
        <p:nvSpPr>
          <p:cNvPr id="4" name="GMV (AED)"/>
          <p:cNvSpPr/>
          <p:nvPr/>
        </p:nvSpPr>
        <p:spPr>
          <a:xfrm>
            <a:off x="548640" y="1645920"/>
            <a:ext cx="3566160" cy="1600200"/>
          </a:xfrm>
          <a:prstGeom prst="roundRect">
            <a:avLst>
              <a:gd name="adj" fmla="val 4571"/>
            </a:avLst>
          </a:prstGeom>
          <a:solidFill>
            <a:srgbClr val="F6F7F2"/>
          </a:solidFill>
          <a:ln w="12700">
            <a:solidFill>
              <a:srgbClr val="E3E5E8"/>
            </a:solidFill>
            <a:prstDash val="solid"/>
          </a:ln>
        </p:spPr>
      </p:sp>
      <p:sp>
        <p:nvSpPr>
          <p:cNvPr id="5" name="Text 3"/>
          <p:cNvSpPr txBox="1"/>
          <p:nvPr/>
        </p:nvSpPr>
        <p:spPr>
          <a:xfrm>
            <a:off x="731520" y="1783080"/>
            <a:ext cx="3200400" cy="274320"/>
          </a:xfrm>
          <a:prstGeom prst="rect">
            <a:avLst/>
          </a:prstGeom>
          <a:noFill/>
          <a:ln/>
        </p:spPr>
        <p:txBody>
          <a:bodyPr wrap="square" lIns="0" tIns="0" rIns="0" bIns="0" rtlCol="0" anchor="t"/>
          <a:lstStyle/>
          <a:p>
            <a:pPr indent="0" marL="0">
              <a:buNone/>
            </a:pPr>
            <a:r>
              <a:rPr lang="en-US" sz="1300" b="1" dirty="0">
                <a:solidFill>
                  <a:srgbClr val="6B7079"/>
                </a:solidFill>
              </a:rPr>
              <a:t>GMV (AED)</a:t>
            </a:r>
            <a:endParaRPr lang="en-US" sz="1300" dirty="0"/>
          </a:p>
        </p:txBody>
      </p:sp>
      <p:sp>
        <p:nvSpPr>
          <p:cNvPr id="6" name="Text 4"/>
          <p:cNvSpPr txBox="1"/>
          <p:nvPr/>
        </p:nvSpPr>
        <p:spPr>
          <a:xfrm>
            <a:off x="731520" y="2084832"/>
            <a:ext cx="3200400" cy="502920"/>
          </a:xfrm>
          <a:prstGeom prst="rect">
            <a:avLst/>
          </a:prstGeom>
          <a:noFill/>
          <a:ln/>
        </p:spPr>
        <p:txBody>
          <a:bodyPr wrap="square" lIns="0" tIns="0" rIns="0" bIns="0" rtlCol="0" anchor="t"/>
          <a:lstStyle/>
          <a:p>
            <a:pPr indent="0" marL="0">
              <a:buNone/>
            </a:pPr>
            <a:r>
              <a:rPr lang="en-US" sz="2800" b="1" dirty="0">
                <a:solidFill>
                  <a:srgbClr val="33373E"/>
                </a:solidFill>
              </a:rPr>
              <a:t>6.38M</a:t>
            </a:r>
            <a:endParaRPr lang="en-US" sz="2800" dirty="0"/>
          </a:p>
        </p:txBody>
      </p:sp>
      <p:sp>
        <p:nvSpPr>
          <p:cNvPr id="7" name="Text 5"/>
          <p:cNvSpPr txBox="1"/>
          <p:nvPr/>
        </p:nvSpPr>
        <p:spPr>
          <a:xfrm>
            <a:off x="731520" y="2670048"/>
            <a:ext cx="3200400" cy="274320"/>
          </a:xfrm>
          <a:prstGeom prst="rect">
            <a:avLst/>
          </a:prstGeom>
          <a:noFill/>
          <a:ln/>
        </p:spPr>
        <p:txBody>
          <a:bodyPr wrap="square" lIns="0" tIns="0" rIns="0" bIns="0" rtlCol="0" anchor="t"/>
          <a:lstStyle/>
          <a:p>
            <a:pPr indent="0" marL="0">
              <a:buNone/>
            </a:pPr>
            <a:r>
              <a:rPr lang="en-US" sz="1300" b="1" dirty="0">
                <a:solidFill>
                  <a:srgbClr val="C0392B"/>
                </a:solidFill>
              </a:rPr>
              <a:t>−27.9%</a:t>
            </a:r>
            <a:pPr indent="0" marL="0">
              <a:buNone/>
            </a:pPr>
            <a:r>
              <a:rPr lang="en-US" sz="1300" dirty="0">
                <a:solidFill>
                  <a:srgbClr val="6B7079"/>
                </a:solidFill>
              </a:rPr>
              <a:t>   LY 8.84M</a:t>
            </a:r>
            <a:endParaRPr lang="en-US" sz="1300" dirty="0"/>
          </a:p>
        </p:txBody>
      </p:sp>
      <p:sp>
        <p:nvSpPr>
          <p:cNvPr id="8" name="Text 6"/>
          <p:cNvSpPr txBox="1"/>
          <p:nvPr/>
        </p:nvSpPr>
        <p:spPr>
          <a:xfrm>
            <a:off x="731520" y="2944368"/>
            <a:ext cx="3200400" cy="228600"/>
          </a:xfrm>
          <a:prstGeom prst="rect">
            <a:avLst/>
          </a:prstGeom>
          <a:noFill/>
          <a:ln/>
        </p:spPr>
        <p:txBody>
          <a:bodyPr wrap="square" lIns="0" tIns="0" rIns="0" bIns="0" rtlCol="0" anchor="t"/>
          <a:lstStyle/>
          <a:p>
            <a:pPr indent="0" marL="0">
              <a:buNone/>
            </a:pPr>
            <a:r>
              <a:rPr lang="en-US" sz="1000" dirty="0">
                <a:solidFill>
                  <a:srgbClr val="6B7079"/>
                </a:solidFill>
              </a:rPr>
              <a:t>Units 69,820 (−30.2%)</a:t>
            </a:r>
            <a:endParaRPr lang="en-US" sz="1000" dirty="0"/>
          </a:p>
        </p:txBody>
      </p:sp>
      <p:sp>
        <p:nvSpPr>
          <p:cNvPr id="9" name="ASP (AED)"/>
          <p:cNvSpPr/>
          <p:nvPr/>
        </p:nvSpPr>
        <p:spPr>
          <a:xfrm>
            <a:off x="4297680" y="1645920"/>
            <a:ext cx="3566160" cy="1600200"/>
          </a:xfrm>
          <a:prstGeom prst="roundRect">
            <a:avLst>
              <a:gd name="adj" fmla="val 4571"/>
            </a:avLst>
          </a:prstGeom>
          <a:solidFill>
            <a:srgbClr val="F6F7F2"/>
          </a:solidFill>
          <a:ln w="12700">
            <a:solidFill>
              <a:srgbClr val="E3E5E8"/>
            </a:solidFill>
            <a:prstDash val="solid"/>
          </a:ln>
        </p:spPr>
      </p:sp>
      <p:sp>
        <p:nvSpPr>
          <p:cNvPr id="10" name="Text 8"/>
          <p:cNvSpPr txBox="1"/>
          <p:nvPr/>
        </p:nvSpPr>
        <p:spPr>
          <a:xfrm>
            <a:off x="4480560" y="1783080"/>
            <a:ext cx="3200400" cy="274320"/>
          </a:xfrm>
          <a:prstGeom prst="rect">
            <a:avLst/>
          </a:prstGeom>
          <a:noFill/>
          <a:ln/>
        </p:spPr>
        <p:txBody>
          <a:bodyPr wrap="square" lIns="0" tIns="0" rIns="0" bIns="0" rtlCol="0" anchor="t"/>
          <a:lstStyle/>
          <a:p>
            <a:pPr indent="0" marL="0">
              <a:buNone/>
            </a:pPr>
            <a:r>
              <a:rPr lang="en-US" sz="1300" b="1" dirty="0">
                <a:solidFill>
                  <a:srgbClr val="6B7079"/>
                </a:solidFill>
              </a:rPr>
              <a:t>ASP (AED)</a:t>
            </a:r>
            <a:endParaRPr lang="en-US" sz="1300" dirty="0"/>
          </a:p>
        </p:txBody>
      </p:sp>
      <p:sp>
        <p:nvSpPr>
          <p:cNvPr id="11" name="Text 9"/>
          <p:cNvSpPr txBox="1"/>
          <p:nvPr/>
        </p:nvSpPr>
        <p:spPr>
          <a:xfrm>
            <a:off x="4480560" y="2084832"/>
            <a:ext cx="3200400" cy="502920"/>
          </a:xfrm>
          <a:prstGeom prst="rect">
            <a:avLst/>
          </a:prstGeom>
          <a:noFill/>
          <a:ln/>
        </p:spPr>
        <p:txBody>
          <a:bodyPr wrap="square" lIns="0" tIns="0" rIns="0" bIns="0" rtlCol="0" anchor="t"/>
          <a:lstStyle/>
          <a:p>
            <a:pPr indent="0" marL="0">
              <a:buNone/>
            </a:pPr>
            <a:r>
              <a:rPr lang="en-US" sz="2800" b="1" dirty="0">
                <a:solidFill>
                  <a:srgbClr val="33373E"/>
                </a:solidFill>
              </a:rPr>
              <a:t>91.3</a:t>
            </a:r>
            <a:endParaRPr lang="en-US" sz="2800" dirty="0"/>
          </a:p>
        </p:txBody>
      </p:sp>
      <p:sp>
        <p:nvSpPr>
          <p:cNvPr id="12" name="Text 10"/>
          <p:cNvSpPr txBox="1"/>
          <p:nvPr/>
        </p:nvSpPr>
        <p:spPr>
          <a:xfrm>
            <a:off x="4480560" y="2670048"/>
            <a:ext cx="3200400" cy="274320"/>
          </a:xfrm>
          <a:prstGeom prst="rect">
            <a:avLst/>
          </a:prstGeom>
          <a:noFill/>
          <a:ln/>
        </p:spPr>
        <p:txBody>
          <a:bodyPr wrap="square" lIns="0" tIns="0" rIns="0" bIns="0" rtlCol="0" anchor="t"/>
          <a:lstStyle/>
          <a:p>
            <a:pPr indent="0" marL="0">
              <a:buNone/>
            </a:pPr>
            <a:r>
              <a:rPr lang="en-US" sz="1300" b="1" dirty="0">
                <a:solidFill>
                  <a:srgbClr val="2E7D32"/>
                </a:solidFill>
              </a:rPr>
              <a:t>+3.3%</a:t>
            </a:r>
            <a:pPr indent="0" marL="0">
              <a:buNone/>
            </a:pPr>
            <a:r>
              <a:rPr lang="en-US" sz="1300" dirty="0">
                <a:solidFill>
                  <a:srgbClr val="6B7079"/>
                </a:solidFill>
              </a:rPr>
              <a:t>   LY 88.4</a:t>
            </a:r>
            <a:endParaRPr lang="en-US" sz="1300" dirty="0"/>
          </a:p>
        </p:txBody>
      </p:sp>
      <p:sp>
        <p:nvSpPr>
          <p:cNvPr id="13" name="Text 11"/>
          <p:cNvSpPr txBox="1"/>
          <p:nvPr/>
        </p:nvSpPr>
        <p:spPr>
          <a:xfrm>
            <a:off x="4480560" y="2944368"/>
            <a:ext cx="3200400" cy="228600"/>
          </a:xfrm>
          <a:prstGeom prst="rect">
            <a:avLst/>
          </a:prstGeom>
          <a:noFill/>
          <a:ln/>
        </p:spPr>
        <p:txBody>
          <a:bodyPr wrap="square" lIns="0" tIns="0" rIns="0" bIns="0" rtlCol="0" anchor="t"/>
          <a:lstStyle/>
          <a:p>
            <a:pPr indent="0" marL="0">
              <a:buNone/>
            </a:pPr>
            <a:r>
              <a:rPr lang="en-US" sz="1000" dirty="0">
                <a:solidFill>
                  <a:srgbClr val="6B7079"/>
                </a:solidFill>
              </a:rPr>
              <a:t>GMV ÷ units</a:t>
            </a:r>
            <a:endParaRPr lang="en-US" sz="1000" dirty="0"/>
          </a:p>
        </p:txBody>
      </p:sp>
      <p:sp>
        <p:nvSpPr>
          <p:cNvPr id="14" name="Markdown %"/>
          <p:cNvSpPr/>
          <p:nvPr/>
        </p:nvSpPr>
        <p:spPr>
          <a:xfrm>
            <a:off x="8046720" y="1645920"/>
            <a:ext cx="3566160" cy="1600200"/>
          </a:xfrm>
          <a:prstGeom prst="roundRect">
            <a:avLst>
              <a:gd name="adj" fmla="val 4571"/>
            </a:avLst>
          </a:prstGeom>
          <a:solidFill>
            <a:srgbClr val="F6F7F2"/>
          </a:solidFill>
          <a:ln w="12700">
            <a:solidFill>
              <a:srgbClr val="E3E5E8"/>
            </a:solidFill>
            <a:prstDash val="solid"/>
          </a:ln>
        </p:spPr>
      </p:sp>
      <p:sp>
        <p:nvSpPr>
          <p:cNvPr id="15" name="Text 13"/>
          <p:cNvSpPr txBox="1"/>
          <p:nvPr/>
        </p:nvSpPr>
        <p:spPr>
          <a:xfrm>
            <a:off x="8229600" y="1783080"/>
            <a:ext cx="3200400" cy="274320"/>
          </a:xfrm>
          <a:prstGeom prst="rect">
            <a:avLst/>
          </a:prstGeom>
          <a:noFill/>
          <a:ln/>
        </p:spPr>
        <p:txBody>
          <a:bodyPr wrap="square" lIns="0" tIns="0" rIns="0" bIns="0" rtlCol="0" anchor="t"/>
          <a:lstStyle/>
          <a:p>
            <a:pPr indent="0" marL="0">
              <a:buNone/>
            </a:pPr>
            <a:r>
              <a:rPr lang="en-US" sz="1300" b="1" dirty="0">
                <a:solidFill>
                  <a:srgbClr val="6B7079"/>
                </a:solidFill>
              </a:rPr>
              <a:t>Markdown %</a:t>
            </a:r>
            <a:endParaRPr lang="en-US" sz="1300" dirty="0"/>
          </a:p>
        </p:txBody>
      </p:sp>
      <p:sp>
        <p:nvSpPr>
          <p:cNvPr id="16" name="Text 14"/>
          <p:cNvSpPr txBox="1"/>
          <p:nvPr/>
        </p:nvSpPr>
        <p:spPr>
          <a:xfrm>
            <a:off x="8229600" y="2084832"/>
            <a:ext cx="3200400" cy="502920"/>
          </a:xfrm>
          <a:prstGeom prst="rect">
            <a:avLst/>
          </a:prstGeom>
          <a:noFill/>
          <a:ln/>
        </p:spPr>
        <p:txBody>
          <a:bodyPr wrap="square" lIns="0" tIns="0" rIns="0" bIns="0" rtlCol="0" anchor="t"/>
          <a:lstStyle/>
          <a:p>
            <a:pPr indent="0" marL="0">
              <a:buNone/>
            </a:pPr>
            <a:r>
              <a:rPr lang="en-US" sz="2800" b="1" dirty="0">
                <a:solidFill>
                  <a:srgbClr val="33373E"/>
                </a:solidFill>
              </a:rPr>
              <a:t>22.8%</a:t>
            </a:r>
            <a:endParaRPr lang="en-US" sz="2800" dirty="0"/>
          </a:p>
        </p:txBody>
      </p:sp>
      <p:sp>
        <p:nvSpPr>
          <p:cNvPr id="17" name="Text 15"/>
          <p:cNvSpPr txBox="1"/>
          <p:nvPr/>
        </p:nvSpPr>
        <p:spPr>
          <a:xfrm>
            <a:off x="8229600" y="2670048"/>
            <a:ext cx="3200400" cy="274320"/>
          </a:xfrm>
          <a:prstGeom prst="rect">
            <a:avLst/>
          </a:prstGeom>
          <a:noFill/>
          <a:ln/>
        </p:spPr>
        <p:txBody>
          <a:bodyPr wrap="square" lIns="0" tIns="0" rIns="0" bIns="0" rtlCol="0" anchor="t"/>
          <a:lstStyle/>
          <a:p>
            <a:pPr indent="0" marL="0">
              <a:buNone/>
            </a:pPr>
            <a:r>
              <a:rPr lang="en-US" sz="1300" b="1" dirty="0">
                <a:solidFill>
                  <a:srgbClr val="B26A00"/>
                </a:solidFill>
              </a:rPr>
              <a:t>+2.5 pp</a:t>
            </a:r>
            <a:pPr indent="0" marL="0">
              <a:buNone/>
            </a:pPr>
            <a:r>
              <a:rPr lang="en-US" sz="1300" dirty="0">
                <a:solidFill>
                  <a:srgbClr val="6B7079"/>
                </a:solidFill>
              </a:rPr>
              <a:t>   LY 20.2%</a:t>
            </a:r>
            <a:endParaRPr lang="en-US" sz="1300" dirty="0"/>
          </a:p>
        </p:txBody>
      </p:sp>
      <p:sp>
        <p:nvSpPr>
          <p:cNvPr id="18" name="Text 16"/>
          <p:cNvSpPr txBox="1"/>
          <p:nvPr/>
        </p:nvSpPr>
        <p:spPr>
          <a:xfrm>
            <a:off x="8229600" y="2944368"/>
            <a:ext cx="3200400" cy="228600"/>
          </a:xfrm>
          <a:prstGeom prst="rect">
            <a:avLst/>
          </a:prstGeom>
          <a:noFill/>
          <a:ln/>
        </p:spPr>
        <p:txBody>
          <a:bodyPr wrap="square" lIns="0" tIns="0" rIns="0" bIns="0" rtlCol="0" anchor="t"/>
          <a:lstStyle/>
          <a:p>
            <a:pPr indent="0" marL="0">
              <a:buNone/>
            </a:pPr>
            <a:r>
              <a:rPr lang="en-US" sz="1000" dirty="0">
                <a:solidFill>
                  <a:srgbClr val="6B7079"/>
                </a:solidFill>
              </a:rPr>
              <a:t>Markdown ÷ normal price</a:t>
            </a:r>
            <a:endParaRPr lang="en-US" sz="1000" dirty="0"/>
          </a:p>
        </p:txBody>
      </p:sp>
      <p:sp>
        <p:nvSpPr>
          <p:cNvPr id="19" name="Text 17"/>
          <p:cNvSpPr txBox="1"/>
          <p:nvPr/>
        </p:nvSpPr>
        <p:spPr>
          <a:xfrm>
            <a:off x="548640" y="3520440"/>
            <a:ext cx="5486400" cy="274320"/>
          </a:xfrm>
          <a:prstGeom prst="rect">
            <a:avLst/>
          </a:prstGeom>
          <a:noFill/>
          <a:ln/>
        </p:spPr>
        <p:txBody>
          <a:bodyPr wrap="square" lIns="0" tIns="0" rIns="0" bIns="0" rtlCol="0" anchor="t"/>
          <a:lstStyle/>
          <a:p>
            <a:pPr indent="0" marL="0">
              <a:buNone/>
            </a:pPr>
            <a:r>
              <a:rPr lang="en-US" sz="1400" b="1" dirty="0">
                <a:solidFill>
                  <a:srgbClr val="33373E"/>
                </a:solidFill>
              </a:rPr>
              <a:t>Traffic and conversion funnel</a:t>
            </a:r>
            <a:endParaRPr lang="en-US" sz="1400" dirty="0"/>
          </a:p>
        </p:txBody>
      </p:sp>
      <p:sp>
        <p:nvSpPr>
          <p:cNvPr id="20" name="Impressions"/>
          <p:cNvSpPr/>
          <p:nvPr/>
        </p:nvSpPr>
        <p:spPr>
          <a:xfrm>
            <a:off x="548640" y="3886200"/>
            <a:ext cx="2514600" cy="1600200"/>
          </a:xfrm>
          <a:prstGeom prst="roundRect">
            <a:avLst>
              <a:gd name="adj" fmla="val 4571"/>
            </a:avLst>
          </a:prstGeom>
          <a:solidFill>
            <a:srgbClr val="F6F7F2"/>
          </a:solidFill>
          <a:ln w="12700">
            <a:solidFill>
              <a:srgbClr val="E3E5E8"/>
            </a:solidFill>
            <a:prstDash val="solid"/>
          </a:ln>
        </p:spPr>
      </p:sp>
      <p:sp>
        <p:nvSpPr>
          <p:cNvPr id="21" name="Text 19"/>
          <p:cNvSpPr txBox="1"/>
          <p:nvPr/>
        </p:nvSpPr>
        <p:spPr>
          <a:xfrm>
            <a:off x="731520" y="4023360"/>
            <a:ext cx="2148840" cy="274320"/>
          </a:xfrm>
          <a:prstGeom prst="rect">
            <a:avLst/>
          </a:prstGeom>
          <a:noFill/>
          <a:ln/>
        </p:spPr>
        <p:txBody>
          <a:bodyPr wrap="square" lIns="0" tIns="0" rIns="0" bIns="0" rtlCol="0" anchor="t"/>
          <a:lstStyle/>
          <a:p>
            <a:pPr indent="0" marL="0">
              <a:buNone/>
            </a:pPr>
            <a:r>
              <a:rPr lang="en-US" sz="1300" b="1" dirty="0">
                <a:solidFill>
                  <a:srgbClr val="6B7079"/>
                </a:solidFill>
              </a:rPr>
              <a:t>Impressions</a:t>
            </a:r>
            <a:endParaRPr lang="en-US" sz="1300" dirty="0"/>
          </a:p>
        </p:txBody>
      </p:sp>
      <p:sp>
        <p:nvSpPr>
          <p:cNvPr id="22" name="Text 20"/>
          <p:cNvSpPr txBox="1"/>
          <p:nvPr/>
        </p:nvSpPr>
        <p:spPr>
          <a:xfrm>
            <a:off x="731520" y="4325112"/>
            <a:ext cx="2148840" cy="502920"/>
          </a:xfrm>
          <a:prstGeom prst="rect">
            <a:avLst/>
          </a:prstGeom>
          <a:noFill/>
          <a:ln/>
        </p:spPr>
        <p:txBody>
          <a:bodyPr wrap="square" lIns="0" tIns="0" rIns="0" bIns="0" rtlCol="0" anchor="t"/>
          <a:lstStyle/>
          <a:p>
            <a:pPr indent="0" marL="0">
              <a:buNone/>
            </a:pPr>
            <a:r>
              <a:rPr lang="en-US" sz="2800" b="1" dirty="0">
                <a:solidFill>
                  <a:srgbClr val="33373E"/>
                </a:solidFill>
              </a:rPr>
              <a:t>162.1M</a:t>
            </a:r>
            <a:endParaRPr lang="en-US" sz="2800" dirty="0"/>
          </a:p>
        </p:txBody>
      </p:sp>
      <p:sp>
        <p:nvSpPr>
          <p:cNvPr id="23" name="Text 21"/>
          <p:cNvSpPr txBox="1"/>
          <p:nvPr/>
        </p:nvSpPr>
        <p:spPr>
          <a:xfrm>
            <a:off x="731520" y="4910328"/>
            <a:ext cx="2148840" cy="274320"/>
          </a:xfrm>
          <a:prstGeom prst="rect">
            <a:avLst/>
          </a:prstGeom>
          <a:noFill/>
          <a:ln/>
        </p:spPr>
        <p:txBody>
          <a:bodyPr wrap="square" lIns="0" tIns="0" rIns="0" bIns="0" rtlCol="0" anchor="t"/>
          <a:lstStyle/>
          <a:p>
            <a:pPr indent="0" marL="0">
              <a:buNone/>
            </a:pPr>
            <a:r>
              <a:rPr lang="en-US" sz="1300" b="1" dirty="0">
                <a:solidFill>
                  <a:srgbClr val="C0392B"/>
                </a:solidFill>
              </a:rPr>
              <a:t>−8.7%</a:t>
            </a:r>
            <a:pPr indent="0" marL="0">
              <a:buNone/>
            </a:pPr>
            <a:r>
              <a:rPr lang="en-US" sz="1300" dirty="0">
                <a:solidFill>
                  <a:srgbClr val="6B7079"/>
                </a:solidFill>
              </a:rPr>
              <a:t>   LY 177.5M</a:t>
            </a:r>
            <a:endParaRPr lang="en-US" sz="1300" dirty="0"/>
          </a:p>
        </p:txBody>
      </p:sp>
      <p:sp>
        <p:nvSpPr>
          <p:cNvPr id="24" name="Text 22"/>
          <p:cNvSpPr txBox="1"/>
          <p:nvPr/>
        </p:nvSpPr>
        <p:spPr>
          <a:xfrm>
            <a:off x="731520" y="5184648"/>
            <a:ext cx="2148840" cy="228600"/>
          </a:xfrm>
          <a:prstGeom prst="rect">
            <a:avLst/>
          </a:prstGeom>
          <a:noFill/>
          <a:ln/>
        </p:spPr>
        <p:txBody>
          <a:bodyPr wrap="square" lIns="0" tIns="0" rIns="0" bIns="0" rtlCol="0" anchor="t"/>
          <a:lstStyle/>
          <a:p>
            <a:pPr indent="0" marL="0">
              <a:buNone/>
            </a:pPr>
            <a:r>
              <a:rPr lang="en-US" sz="1000" dirty="0">
                <a:solidFill>
                  <a:srgbClr val="6B7079"/>
                </a:solidFill>
              </a:rPr>
              <a:t>Search + non-search</a:t>
            </a:r>
            <a:endParaRPr lang="en-US" sz="1000" dirty="0"/>
          </a:p>
        </p:txBody>
      </p:sp>
      <p:sp>
        <p:nvSpPr>
          <p:cNvPr id="25" name="CTR"/>
          <p:cNvSpPr/>
          <p:nvPr/>
        </p:nvSpPr>
        <p:spPr>
          <a:xfrm>
            <a:off x="3429000" y="3886200"/>
            <a:ext cx="2514600" cy="1600200"/>
          </a:xfrm>
          <a:prstGeom prst="roundRect">
            <a:avLst>
              <a:gd name="adj" fmla="val 4571"/>
            </a:avLst>
          </a:prstGeom>
          <a:solidFill>
            <a:srgbClr val="F6F7F2"/>
          </a:solidFill>
          <a:ln w="12700">
            <a:solidFill>
              <a:srgbClr val="E3E5E8"/>
            </a:solidFill>
            <a:prstDash val="solid"/>
          </a:ln>
        </p:spPr>
      </p:sp>
      <p:sp>
        <p:nvSpPr>
          <p:cNvPr id="26" name="Text 24"/>
          <p:cNvSpPr txBox="1"/>
          <p:nvPr/>
        </p:nvSpPr>
        <p:spPr>
          <a:xfrm>
            <a:off x="3611880" y="4023360"/>
            <a:ext cx="2148840" cy="274320"/>
          </a:xfrm>
          <a:prstGeom prst="rect">
            <a:avLst/>
          </a:prstGeom>
          <a:noFill/>
          <a:ln/>
        </p:spPr>
        <p:txBody>
          <a:bodyPr wrap="square" lIns="0" tIns="0" rIns="0" bIns="0" rtlCol="0" anchor="t"/>
          <a:lstStyle/>
          <a:p>
            <a:pPr indent="0" marL="0">
              <a:buNone/>
            </a:pPr>
            <a:r>
              <a:rPr lang="en-US" sz="1300" b="1" dirty="0">
                <a:solidFill>
                  <a:srgbClr val="6B7079"/>
                </a:solidFill>
              </a:rPr>
              <a:t>CTR</a:t>
            </a:r>
            <a:endParaRPr lang="en-US" sz="1300" dirty="0"/>
          </a:p>
        </p:txBody>
      </p:sp>
      <p:sp>
        <p:nvSpPr>
          <p:cNvPr id="27" name="Text 25"/>
          <p:cNvSpPr txBox="1"/>
          <p:nvPr/>
        </p:nvSpPr>
        <p:spPr>
          <a:xfrm>
            <a:off x="3611880" y="4325112"/>
            <a:ext cx="2148840" cy="502920"/>
          </a:xfrm>
          <a:prstGeom prst="rect">
            <a:avLst/>
          </a:prstGeom>
          <a:noFill/>
          <a:ln/>
        </p:spPr>
        <p:txBody>
          <a:bodyPr wrap="square" lIns="0" tIns="0" rIns="0" bIns="0" rtlCol="0" anchor="t"/>
          <a:lstStyle/>
          <a:p>
            <a:pPr indent="0" marL="0">
              <a:buNone/>
            </a:pPr>
            <a:r>
              <a:rPr lang="en-US" sz="2800" b="1" dirty="0">
                <a:solidFill>
                  <a:srgbClr val="33373E"/>
                </a:solidFill>
              </a:rPr>
              <a:t>2.52%</a:t>
            </a:r>
            <a:endParaRPr lang="en-US" sz="2800" dirty="0"/>
          </a:p>
        </p:txBody>
      </p:sp>
      <p:sp>
        <p:nvSpPr>
          <p:cNvPr id="28" name="Text 26"/>
          <p:cNvSpPr txBox="1"/>
          <p:nvPr/>
        </p:nvSpPr>
        <p:spPr>
          <a:xfrm>
            <a:off x="3611880" y="4910328"/>
            <a:ext cx="2148840" cy="274320"/>
          </a:xfrm>
          <a:prstGeom prst="rect">
            <a:avLst/>
          </a:prstGeom>
          <a:noFill/>
          <a:ln/>
        </p:spPr>
        <p:txBody>
          <a:bodyPr wrap="square" lIns="0" tIns="0" rIns="0" bIns="0" rtlCol="0" anchor="t"/>
          <a:lstStyle/>
          <a:p>
            <a:pPr indent="0" marL="0">
              <a:buNone/>
            </a:pPr>
            <a:r>
              <a:rPr lang="en-US" sz="1300" b="1" dirty="0">
                <a:solidFill>
                  <a:srgbClr val="2E7D32"/>
                </a:solidFill>
              </a:rPr>
              <a:t>+0.04 pp</a:t>
            </a:r>
            <a:pPr indent="0" marL="0">
              <a:buNone/>
            </a:pPr>
            <a:r>
              <a:rPr lang="en-US" sz="1300" dirty="0">
                <a:solidFill>
                  <a:srgbClr val="6B7079"/>
                </a:solidFill>
              </a:rPr>
              <a:t>   LY 2.47%</a:t>
            </a:r>
            <a:endParaRPr lang="en-US" sz="1300" dirty="0"/>
          </a:p>
        </p:txBody>
      </p:sp>
      <p:sp>
        <p:nvSpPr>
          <p:cNvPr id="29" name="Text 27"/>
          <p:cNvSpPr txBox="1"/>
          <p:nvPr/>
        </p:nvSpPr>
        <p:spPr>
          <a:xfrm>
            <a:off x="3611880" y="5184648"/>
            <a:ext cx="2148840" cy="228600"/>
          </a:xfrm>
          <a:prstGeom prst="rect">
            <a:avLst/>
          </a:prstGeom>
          <a:noFill/>
          <a:ln/>
        </p:spPr>
        <p:txBody>
          <a:bodyPr wrap="square" lIns="0" tIns="0" rIns="0" bIns="0" rtlCol="0" anchor="t"/>
          <a:lstStyle/>
          <a:p>
            <a:pPr indent="0" marL="0">
              <a:buNone/>
            </a:pPr>
            <a:r>
              <a:rPr lang="en-US" sz="1000" dirty="0">
                <a:solidFill>
                  <a:srgbClr val="6B7079"/>
                </a:solidFill>
              </a:rPr>
              <a:t>GVs ÷ impressions</a:t>
            </a:r>
            <a:endParaRPr lang="en-US" sz="1000" dirty="0"/>
          </a:p>
        </p:txBody>
      </p:sp>
      <p:sp>
        <p:nvSpPr>
          <p:cNvPr id="30" name="Glance views (GVs)"/>
          <p:cNvSpPr/>
          <p:nvPr/>
        </p:nvSpPr>
        <p:spPr>
          <a:xfrm>
            <a:off x="6309360" y="3886200"/>
            <a:ext cx="2514600" cy="1600200"/>
          </a:xfrm>
          <a:prstGeom prst="roundRect">
            <a:avLst>
              <a:gd name="adj" fmla="val 4571"/>
            </a:avLst>
          </a:prstGeom>
          <a:solidFill>
            <a:srgbClr val="F6F7F2"/>
          </a:solidFill>
          <a:ln w="12700">
            <a:solidFill>
              <a:srgbClr val="E3E5E8"/>
            </a:solidFill>
            <a:prstDash val="solid"/>
          </a:ln>
        </p:spPr>
      </p:sp>
      <p:sp>
        <p:nvSpPr>
          <p:cNvPr id="31" name="Text 29"/>
          <p:cNvSpPr txBox="1"/>
          <p:nvPr/>
        </p:nvSpPr>
        <p:spPr>
          <a:xfrm>
            <a:off x="6492240" y="4023360"/>
            <a:ext cx="2148840" cy="274320"/>
          </a:xfrm>
          <a:prstGeom prst="rect">
            <a:avLst/>
          </a:prstGeom>
          <a:noFill/>
          <a:ln/>
        </p:spPr>
        <p:txBody>
          <a:bodyPr wrap="square" lIns="0" tIns="0" rIns="0" bIns="0" rtlCol="0" anchor="t"/>
          <a:lstStyle/>
          <a:p>
            <a:pPr indent="0" marL="0">
              <a:buNone/>
            </a:pPr>
            <a:r>
              <a:rPr lang="en-US" sz="1300" b="1" dirty="0">
                <a:solidFill>
                  <a:srgbClr val="6B7079"/>
                </a:solidFill>
              </a:rPr>
              <a:t>Glance views (GVs)</a:t>
            </a:r>
            <a:endParaRPr lang="en-US" sz="1300" dirty="0"/>
          </a:p>
        </p:txBody>
      </p:sp>
      <p:sp>
        <p:nvSpPr>
          <p:cNvPr id="32" name="Text 30"/>
          <p:cNvSpPr txBox="1"/>
          <p:nvPr/>
        </p:nvSpPr>
        <p:spPr>
          <a:xfrm>
            <a:off x="6492240" y="4325112"/>
            <a:ext cx="2148840" cy="502920"/>
          </a:xfrm>
          <a:prstGeom prst="rect">
            <a:avLst/>
          </a:prstGeom>
          <a:noFill/>
          <a:ln/>
        </p:spPr>
        <p:txBody>
          <a:bodyPr wrap="square" lIns="0" tIns="0" rIns="0" bIns="0" rtlCol="0" anchor="t"/>
          <a:lstStyle/>
          <a:p>
            <a:pPr indent="0" marL="0">
              <a:buNone/>
            </a:pPr>
            <a:r>
              <a:rPr lang="en-US" sz="2800" b="1" dirty="0">
                <a:solidFill>
                  <a:srgbClr val="33373E"/>
                </a:solidFill>
              </a:rPr>
              <a:t>4.08M</a:t>
            </a:r>
            <a:endParaRPr lang="en-US" sz="2800" dirty="0"/>
          </a:p>
        </p:txBody>
      </p:sp>
      <p:sp>
        <p:nvSpPr>
          <p:cNvPr id="33" name="Text 31"/>
          <p:cNvSpPr txBox="1"/>
          <p:nvPr/>
        </p:nvSpPr>
        <p:spPr>
          <a:xfrm>
            <a:off x="6492240" y="4910328"/>
            <a:ext cx="2148840" cy="274320"/>
          </a:xfrm>
          <a:prstGeom prst="rect">
            <a:avLst/>
          </a:prstGeom>
          <a:noFill/>
          <a:ln/>
        </p:spPr>
        <p:txBody>
          <a:bodyPr wrap="square" lIns="0" tIns="0" rIns="0" bIns="0" rtlCol="0" anchor="t"/>
          <a:lstStyle/>
          <a:p>
            <a:pPr indent="0" marL="0">
              <a:buNone/>
            </a:pPr>
            <a:r>
              <a:rPr lang="en-US" sz="1300" b="1" dirty="0">
                <a:solidFill>
                  <a:srgbClr val="C0392B"/>
                </a:solidFill>
              </a:rPr>
              <a:t>−7.0%</a:t>
            </a:r>
            <a:pPr indent="0" marL="0">
              <a:buNone/>
            </a:pPr>
            <a:r>
              <a:rPr lang="en-US" sz="1300" dirty="0">
                <a:solidFill>
                  <a:srgbClr val="6B7079"/>
                </a:solidFill>
              </a:rPr>
              <a:t>   LY 4.38M</a:t>
            </a:r>
            <a:endParaRPr lang="en-US" sz="1300" dirty="0"/>
          </a:p>
        </p:txBody>
      </p:sp>
      <p:sp>
        <p:nvSpPr>
          <p:cNvPr id="34" name="Text 32"/>
          <p:cNvSpPr txBox="1"/>
          <p:nvPr/>
        </p:nvSpPr>
        <p:spPr>
          <a:xfrm>
            <a:off x="6492240" y="5184648"/>
            <a:ext cx="2148840" cy="228600"/>
          </a:xfrm>
          <a:prstGeom prst="rect">
            <a:avLst/>
          </a:prstGeom>
          <a:noFill/>
          <a:ln/>
        </p:spPr>
        <p:txBody>
          <a:bodyPr wrap="square" lIns="0" tIns="0" rIns="0" bIns="0" rtlCol="0" anchor="t"/>
          <a:lstStyle/>
          <a:p>
            <a:pPr indent="0" marL="0">
              <a:buNone/>
            </a:pPr>
            <a:r>
              <a:rPr lang="en-US" sz="1000" dirty="0">
                <a:solidFill>
                  <a:srgbClr val="6B7079"/>
                </a:solidFill>
              </a:rPr>
              <a:t>Product page views</a:t>
            </a:r>
            <a:endParaRPr lang="en-US" sz="1000" dirty="0"/>
          </a:p>
        </p:txBody>
      </p:sp>
      <p:sp>
        <p:nvSpPr>
          <p:cNvPr id="35" name="UCR"/>
          <p:cNvSpPr/>
          <p:nvPr/>
        </p:nvSpPr>
        <p:spPr>
          <a:xfrm>
            <a:off x="9189720" y="3886200"/>
            <a:ext cx="2514600" cy="1600200"/>
          </a:xfrm>
          <a:prstGeom prst="roundRect">
            <a:avLst>
              <a:gd name="adj" fmla="val 4571"/>
            </a:avLst>
          </a:prstGeom>
          <a:solidFill>
            <a:srgbClr val="F6F7F2"/>
          </a:solidFill>
          <a:ln w="12700">
            <a:solidFill>
              <a:srgbClr val="E3E5E8"/>
            </a:solidFill>
            <a:prstDash val="solid"/>
          </a:ln>
        </p:spPr>
      </p:sp>
      <p:sp>
        <p:nvSpPr>
          <p:cNvPr id="36" name="Text 34"/>
          <p:cNvSpPr txBox="1"/>
          <p:nvPr/>
        </p:nvSpPr>
        <p:spPr>
          <a:xfrm>
            <a:off x="9372600" y="4023360"/>
            <a:ext cx="2148840" cy="274320"/>
          </a:xfrm>
          <a:prstGeom prst="rect">
            <a:avLst/>
          </a:prstGeom>
          <a:noFill/>
          <a:ln/>
        </p:spPr>
        <p:txBody>
          <a:bodyPr wrap="square" lIns="0" tIns="0" rIns="0" bIns="0" rtlCol="0" anchor="t"/>
          <a:lstStyle/>
          <a:p>
            <a:pPr indent="0" marL="0">
              <a:buNone/>
            </a:pPr>
            <a:r>
              <a:rPr lang="en-US" sz="1300" b="1" dirty="0">
                <a:solidFill>
                  <a:srgbClr val="6B7079"/>
                </a:solidFill>
              </a:rPr>
              <a:t>UCR</a:t>
            </a:r>
            <a:endParaRPr lang="en-US" sz="1300" dirty="0"/>
          </a:p>
        </p:txBody>
      </p:sp>
      <p:sp>
        <p:nvSpPr>
          <p:cNvPr id="37" name="Text 35"/>
          <p:cNvSpPr txBox="1"/>
          <p:nvPr/>
        </p:nvSpPr>
        <p:spPr>
          <a:xfrm>
            <a:off x="9372600" y="4325112"/>
            <a:ext cx="2148840" cy="502920"/>
          </a:xfrm>
          <a:prstGeom prst="rect">
            <a:avLst/>
          </a:prstGeom>
          <a:noFill/>
          <a:ln/>
        </p:spPr>
        <p:txBody>
          <a:bodyPr wrap="square" lIns="0" tIns="0" rIns="0" bIns="0" rtlCol="0" anchor="t"/>
          <a:lstStyle/>
          <a:p>
            <a:pPr indent="0" marL="0">
              <a:buNone/>
            </a:pPr>
            <a:r>
              <a:rPr lang="en-US" sz="2800" b="1" dirty="0">
                <a:solidFill>
                  <a:srgbClr val="33373E"/>
                </a:solidFill>
              </a:rPr>
              <a:t>1.71%</a:t>
            </a:r>
            <a:endParaRPr lang="en-US" sz="2800" dirty="0"/>
          </a:p>
        </p:txBody>
      </p:sp>
      <p:sp>
        <p:nvSpPr>
          <p:cNvPr id="38" name="Text 36"/>
          <p:cNvSpPr txBox="1"/>
          <p:nvPr/>
        </p:nvSpPr>
        <p:spPr>
          <a:xfrm>
            <a:off x="9372600" y="4910328"/>
            <a:ext cx="2148840" cy="274320"/>
          </a:xfrm>
          <a:prstGeom prst="rect">
            <a:avLst/>
          </a:prstGeom>
          <a:noFill/>
          <a:ln/>
        </p:spPr>
        <p:txBody>
          <a:bodyPr wrap="square" lIns="0" tIns="0" rIns="0" bIns="0" rtlCol="0" anchor="t"/>
          <a:lstStyle/>
          <a:p>
            <a:pPr indent="0" marL="0">
              <a:buNone/>
            </a:pPr>
            <a:r>
              <a:rPr lang="en-US" sz="1300" b="1" dirty="0">
                <a:solidFill>
                  <a:srgbClr val="C0392B"/>
                </a:solidFill>
              </a:rPr>
              <a:t>−0.57 pp</a:t>
            </a:r>
            <a:pPr indent="0" marL="0">
              <a:buNone/>
            </a:pPr>
            <a:r>
              <a:rPr lang="en-US" sz="1300" dirty="0">
                <a:solidFill>
                  <a:srgbClr val="6B7079"/>
                </a:solidFill>
              </a:rPr>
              <a:t>   LY 2.28%</a:t>
            </a:r>
            <a:endParaRPr lang="en-US" sz="1300" dirty="0"/>
          </a:p>
        </p:txBody>
      </p:sp>
      <p:sp>
        <p:nvSpPr>
          <p:cNvPr id="39" name="Text 37"/>
          <p:cNvSpPr txBox="1"/>
          <p:nvPr/>
        </p:nvSpPr>
        <p:spPr>
          <a:xfrm>
            <a:off x="9372600" y="5184648"/>
            <a:ext cx="2148840" cy="228600"/>
          </a:xfrm>
          <a:prstGeom prst="rect">
            <a:avLst/>
          </a:prstGeom>
          <a:noFill/>
          <a:ln/>
        </p:spPr>
        <p:txBody>
          <a:bodyPr wrap="square" lIns="0" tIns="0" rIns="0" bIns="0" rtlCol="0" anchor="t"/>
          <a:lstStyle/>
          <a:p>
            <a:pPr indent="0" marL="0">
              <a:buNone/>
            </a:pPr>
            <a:r>
              <a:rPr lang="en-US" sz="1000" dirty="0">
                <a:solidFill>
                  <a:srgbClr val="6B7079"/>
                </a:solidFill>
              </a:rPr>
              <a:t>Units ÷ GVs</a:t>
            </a:r>
            <a:endParaRPr lang="en-US" sz="1000" dirty="0"/>
          </a:p>
        </p:txBody>
      </p:sp>
      <p:sp>
        <p:nvSpPr>
          <p:cNvPr id="40" name="Shape 38"/>
          <p:cNvSpPr/>
          <p:nvPr/>
        </p:nvSpPr>
        <p:spPr>
          <a:xfrm>
            <a:off x="3136392" y="4526280"/>
            <a:ext cx="219456" cy="274320"/>
          </a:xfrm>
          <a:prstGeom prst="rightArrow">
            <a:avLst/>
          </a:prstGeom>
          <a:solidFill>
            <a:srgbClr val="C5C9CF"/>
          </a:solidFill>
          <a:ln/>
        </p:spPr>
      </p:sp>
      <p:sp>
        <p:nvSpPr>
          <p:cNvPr id="41" name="Shape 39"/>
          <p:cNvSpPr/>
          <p:nvPr/>
        </p:nvSpPr>
        <p:spPr>
          <a:xfrm>
            <a:off x="6016752" y="4526280"/>
            <a:ext cx="219456" cy="274320"/>
          </a:xfrm>
          <a:prstGeom prst="rightArrow">
            <a:avLst/>
          </a:prstGeom>
          <a:solidFill>
            <a:srgbClr val="C5C9CF"/>
          </a:solidFill>
          <a:ln/>
        </p:spPr>
      </p:sp>
      <p:sp>
        <p:nvSpPr>
          <p:cNvPr id="42" name="Shape 40"/>
          <p:cNvSpPr/>
          <p:nvPr/>
        </p:nvSpPr>
        <p:spPr>
          <a:xfrm>
            <a:off x="8897112" y="4526280"/>
            <a:ext cx="219456" cy="274320"/>
          </a:xfrm>
          <a:prstGeom prst="rightArrow">
            <a:avLst/>
          </a:prstGeom>
          <a:solidFill>
            <a:srgbClr val="C5C9CF"/>
          </a:solidFill>
          <a:ln/>
        </p:spPr>
      </p:sp>
      <p:sp>
        <p:nvSpPr>
          <p:cNvPr id="43" name="Text 41"/>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300" b="1" dirty="0">
                <a:solidFill>
                  <a:srgbClr val="41464E"/>
                </a:solidFill>
              </a:rPr>
              <a:t>Read: </a:t>
            </a:r>
            <a:pPr indent="0" marL="0">
              <a:buNone/>
            </a:pPr>
            <a:r>
              <a:rPr lang="en-US" sz="1300" dirty="0">
                <a:solidFill>
                  <a:srgbClr val="41464E"/>
                </a:solidFill>
              </a:rPr>
              <a:t>views fell only 7.0% and CTR improved, but each view converted 25% less often (UCR 1.71% vs 2.28%), so units fell 30.2%. A higher ASP (+3.3%) softened the GMV drop.</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By country: UAE and KSA down about a quarter; Other GCC fell 72% as traffic dropped by 61%</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Full September, TY 2026 vs LY 2025. Value metrics show % change; CTR, UCR and markdown show percentage-point (pp) change</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143000"/>
                <a:gridCol w="868680"/>
                <a:gridCol w="777240"/>
                <a:gridCol w="640080"/>
                <a:gridCol w="685800"/>
                <a:gridCol w="731520"/>
                <a:gridCol w="822960"/>
                <a:gridCol w="731520"/>
                <a:gridCol w="777240"/>
                <a:gridCol w="822960"/>
                <a:gridCol w="731520"/>
                <a:gridCol w="777240"/>
                <a:gridCol w="731520"/>
                <a:gridCol w="82296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Country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GMV TY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Share</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ASP TY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Impr. 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CTR TY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GVs 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UCR TY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MKD TY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UAE</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3.43M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−25.3%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84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2.93%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+0.23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2.24%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−0.80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24.8%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+3.4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KSA</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2.77M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−23.2%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+13.1%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2.27%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−0.08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1.31%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−0.47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20.6%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+1.2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Kuwait</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0.09M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−76.4%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119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+50.7%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−64.2%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2.19%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−0.19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−67.1%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1.07%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−1.18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14.4%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−1.6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Qatar</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0.04M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−53.5%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+56.2%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2.11%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−0.02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−0.69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14.3%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−1.4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Bahrain</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0.03M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−78.1%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117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+11.8%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−51.6%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2.20%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−0.19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−55.4%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0.73%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−0.93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17.8%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−0.2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Oman</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0.02M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−50.5%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183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+127.2%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−55.8%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1.91%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−0.18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−59.6%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0.61%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−0.52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14.3%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−0.2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Overall</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33373E"/>
                          </a:solidFill>
                          <a:latin typeface="Calibri" pitchFamily="34" charset="0"/>
                          <a:ea typeface="Calibri" pitchFamily="34" charset="-122"/>
                          <a:cs typeface="Calibri" pitchFamily="34" charset="-120"/>
                        </a:rPr>
                        <a:t>6.38M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−27.9%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33373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33373E"/>
                          </a:solidFill>
                          <a:latin typeface="Calibri" pitchFamily="34" charset="0"/>
                          <a:ea typeface="Calibri" pitchFamily="34" charset="-122"/>
                          <a:cs typeface="Calibri" pitchFamily="34" charset="-120"/>
                        </a:rPr>
                        <a:t>91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−8.7%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33373E"/>
                          </a:solidFill>
                          <a:latin typeface="Calibri" pitchFamily="34" charset="0"/>
                          <a:ea typeface="Calibri" pitchFamily="34" charset="-122"/>
                          <a:cs typeface="Calibri" pitchFamily="34" charset="-120"/>
                        </a:rPr>
                        <a:t>2.52%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+0.04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33373E"/>
                          </a:solidFill>
                          <a:latin typeface="Calibri" pitchFamily="34" charset="0"/>
                          <a:ea typeface="Calibri" pitchFamily="34" charset="-122"/>
                          <a:cs typeface="Calibri" pitchFamily="34" charset="-120"/>
                        </a:rPr>
                        <a:t>1.71%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−0.57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33373E"/>
                          </a:solidFill>
                          <a:latin typeface="Calibri" pitchFamily="34" charset="0"/>
                          <a:ea typeface="Calibri" pitchFamily="34" charset="-122"/>
                          <a:cs typeface="Calibri" pitchFamily="34" charset="-120"/>
                        </a:rPr>
                        <a:t>22.8%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+2.5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r>
            </a:tbl>
          </a:graphicData>
        </a:graphic>
      </p:graphicFrame>
      <p:sp>
        <p:nvSpPr>
          <p:cNvPr id="5" name="Text 2"/>
          <p:cNvSpPr txBox="1"/>
          <p:nvPr/>
        </p:nvSpPr>
        <p:spPr>
          <a:xfrm>
            <a:off x="548640" y="4983480"/>
            <a:ext cx="11064240" cy="365760"/>
          </a:xfrm>
          <a:prstGeom prst="rect">
            <a:avLst/>
          </a:prstGeom>
          <a:noFill/>
          <a:ln/>
        </p:spPr>
        <p:txBody>
          <a:bodyPr wrap="square" lIns="0" tIns="0" rIns="0" bIns="0" rtlCol="0" anchor="t"/>
          <a:lstStyle/>
          <a:p>
            <a:pPr indent="0" marL="0">
              <a:buNone/>
            </a:pPr>
            <a:r>
              <a:rPr lang="en-US" sz="1300" b="1" dirty="0">
                <a:solidFill>
                  <a:srgbClr val="41464E"/>
                </a:solidFill>
              </a:rPr>
              <a:t>UAE −25.3%: </a:t>
            </a:r>
            <a:pPr indent="0" marL="0">
              <a:buNone/>
            </a:pPr>
            <a:r>
              <a:rPr lang="en-US" sz="1300" dirty="0">
                <a:solidFill>
                  <a:srgbClr val="41464E"/>
                </a:solidFill>
              </a:rPr>
              <a:t>GVs grew +7.0% and CTR improved, but UCR fell −0.80 pp. This is a conversion problem, not a traffic one.</a:t>
            </a:r>
            <a:endParaRPr lang="en-US" sz="1300" dirty="0"/>
          </a:p>
        </p:txBody>
      </p:sp>
      <p:sp>
        <p:nvSpPr>
          <p:cNvPr id="6" name="Text 3"/>
          <p:cNvSpPr txBox="1"/>
          <p:nvPr/>
        </p:nvSpPr>
        <p:spPr>
          <a:xfrm>
            <a:off x="548640" y="5394960"/>
            <a:ext cx="11064240" cy="365760"/>
          </a:xfrm>
          <a:prstGeom prst="rect">
            <a:avLst/>
          </a:prstGeom>
          <a:noFill/>
          <a:ln/>
        </p:spPr>
        <p:txBody>
          <a:bodyPr wrap="square" lIns="0" tIns="0" rIns="0" bIns="0" rtlCol="0" anchor="t"/>
          <a:lstStyle/>
          <a:p>
            <a:pPr indent="0" marL="0">
              <a:buNone/>
            </a:pPr>
            <a:r>
              <a:rPr lang="en-US" sz="1300" b="1" dirty="0">
                <a:solidFill>
                  <a:srgbClr val="41464E"/>
                </a:solidFill>
              </a:rPr>
              <a:t>KSA −23.2%: </a:t>
            </a:r>
            <a:pPr indent="0" marL="0">
              <a:buNone/>
            </a:pPr>
            <a:r>
              <a:rPr lang="en-US" sz="1300" dirty="0">
                <a:solidFill>
                  <a:srgbClr val="41464E"/>
                </a:solidFill>
              </a:rPr>
              <a:t>fewer views (−7.9%) and lower UCR (−0.47 pp); ASP up +13.1%.</a:t>
            </a:r>
            <a:endParaRPr lang="en-US" sz="1300" dirty="0"/>
          </a:p>
        </p:txBody>
      </p:sp>
      <p:sp>
        <p:nvSpPr>
          <p:cNvPr id="7" name="Text 4"/>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b="1" dirty="0">
                <a:solidFill>
                  <a:srgbClr val="41464E"/>
                </a:solidFill>
              </a:rPr>
              <a:t>Other GCC −72.1%: </a:t>
            </a:r>
            <a:pPr indent="0" marL="0">
              <a:buNone/>
            </a:pPr>
            <a:r>
              <a:rPr lang="en-US" sz="1300" dirty="0">
                <a:solidFill>
                  <a:srgbClr val="41464E"/>
                </a:solidFill>
              </a:rPr>
              <a:t>GVs −61.4% and UCR halved; now 3% of GMV vs 7% LY.</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By business model: retail fell 37% while marketplace grew 67% on heavier discounting</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Full September, TY 2026 vs LY 2025</a:t>
            </a:r>
            <a:endParaRPr lang="en-US" sz="1300" dirty="0"/>
          </a:p>
        </p:txBody>
      </p:sp>
      <p:graphicFrame>
        <p:nvGraphicFramePr>
          <p:cNvPr id="4" name="Chart 0" descr=""/>
          <p:cNvGraphicFramePr/>
          <p:nvPr/>
        </p:nvGraphicFramePr>
        <p:xfrm>
          <a:off x="548640" y="1600200"/>
          <a:ext cx="42062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120640" y="1645920"/>
          <a:ext cx="6492240" cy="914400"/>
        </p:xfrm>
        <a:graphic>
          <a:graphicData uri="http://schemas.openxmlformats.org/drawingml/2006/table">
            <a:tbl>
              <a:tblPr/>
              <a:tblGrid>
                <a:gridCol w="1280160"/>
                <a:gridCol w="868680"/>
                <a:gridCol w="868680"/>
                <a:gridCol w="868680"/>
                <a:gridCol w="868680"/>
                <a:gridCol w="868680"/>
                <a:gridCol w="86868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Retail TY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Retail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MP TY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MP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GMV (AED)</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5.13M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8.10M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−36.6%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1.24M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0.75M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+66.6%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Units</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52,175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90,039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−42.1%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17,645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9,975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+76.9%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ASP (AED)</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98.4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89.9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+9.4%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70.4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74.8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Impressions</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128.9M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158.7M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−18.8%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33.2M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18.8M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+76.5%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CTR</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2.60%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2.48%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+0.12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2.20%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−0.22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GVs</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3.35M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3.93M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−14.8%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0.73M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0.45M</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+60.5%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UCR</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1.56%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2.29%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−0.73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2.42%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2.19%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+0.22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65760">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Markdown %</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16.8%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20.4%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−3.6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40.4%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dirty="0">
                          <a:solidFill>
                            <a:srgbClr val="6B7079"/>
                          </a:solidFill>
                          <a:latin typeface="Calibri" pitchFamily="34" charset="0"/>
                          <a:ea typeface="Calibri" pitchFamily="34" charset="-122"/>
                          <a:cs typeface="Calibri" pitchFamily="34" charset="-120"/>
                        </a:rPr>
                        <a:t>17.7%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+22.7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120640" y="5074920"/>
            <a:ext cx="6492240" cy="914400"/>
          </a:xfrm>
          <a:prstGeom prst="rect">
            <a:avLst/>
          </a:prstGeom>
          <a:noFill/>
          <a:ln/>
        </p:spPr>
        <p:txBody>
          <a:bodyPr wrap="square" lIns="0" tIns="0" rIns="0" bIns="0" rtlCol="0" anchor="t"/>
          <a:lstStyle/>
          <a:p>
            <a:pPr indent="0" marL="0">
              <a:spcAft>
                <a:spcPts val="600"/>
              </a:spcAft>
              <a:buNone/>
            </a:pPr>
            <a:r>
              <a:rPr lang="en-US" sz="1300" b="1" dirty="0">
                <a:solidFill>
                  <a:srgbClr val="41464E"/>
                </a:solidFill>
              </a:rPr>
              <a:t>Retail: </a:t>
            </a:r>
            <a:pPr indent="0" marL="0">
              <a:spcAft>
                <a:spcPts val="600"/>
              </a:spcAft>
              <a:buNone/>
            </a:pPr>
            <a:r>
              <a:rPr lang="en-US" sz="1300" dirty="0">
                <a:solidFill>
                  <a:srgbClr val="41464E"/>
                </a:solidFill>
              </a:rPr>
              <a:t>units −42.1%, GVs −14.8% and UCR −0.73 pp, with markdown below LY (16.8% vs 20.4%).</a:t>
            </a:r>
            <a:endParaRPr lang="en-US" sz="1300" dirty="0"/>
          </a:p>
          <a:p>
            <a:pPr indent="0" marL="0">
              <a:spcAft>
                <a:spcPts val="600"/>
              </a:spcAft>
              <a:buNone/>
            </a:pPr>
            <a:r>
              <a:rPr lang="en-US" sz="1300" b="1" dirty="0">
                <a:solidFill>
                  <a:srgbClr val="41464E"/>
                </a:solidFill>
              </a:rPr>
              <a:t>Marketplace: </a:t>
            </a:r>
            <a:pPr indent="0" marL="0">
              <a:spcAft>
                <a:spcPts val="600"/>
              </a:spcAft>
              <a:buNone/>
            </a:pPr>
            <a:r>
              <a:rPr lang="en-US" sz="1300" dirty="0">
                <a:solidFill>
                  <a:srgbClr val="41464E"/>
                </a:solidFill>
              </a:rPr>
              <a:t>GVs +60.5% and UCR +0.22 pp at 40% markdown; share of GMV 19% vs 8% LY.</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By period: the gap was widest on 19–25 Sep, when LY ran pre-Beauty Week and National Day offers</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GMV per day (AED K), TY 2026 vs LY 2025 on the same calendar dates. Periods: 1–18 Sep (BAU), 19–25 Sep (pre-Beauty Week), 26–30 Sep (Beauty Week)</a:t>
            </a:r>
            <a:endParaRPr lang="en-US" sz="1300" dirty="0"/>
          </a:p>
        </p:txBody>
      </p:sp>
      <p:graphicFrame>
        <p:nvGraphicFramePr>
          <p:cNvPr id="4" name="Chart 0" descr=""/>
          <p:cNvGraphicFramePr/>
          <p:nvPr/>
        </p:nvGraphicFramePr>
        <p:xfrm>
          <a:off x="548640" y="1691640"/>
          <a:ext cx="44805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4960" y="1691640"/>
          <a:ext cx="6217920" cy="914400"/>
        </p:xfrm>
        <a:graphic>
          <a:graphicData uri="http://schemas.openxmlformats.org/drawingml/2006/table">
            <a:tbl>
              <a:tblPr/>
              <a:tblGrid>
                <a:gridCol w="1280160"/>
                <a:gridCol w="1234440"/>
                <a:gridCol w="1234440"/>
                <a:gridCol w="1234440"/>
                <a:gridCol w="1234440"/>
              </a:tblGrid>
              <a:tr h="51206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1–18 Sep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19–25 Sep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26–30 Sep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Full Sept</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r>
              <a:tr h="512064">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GMV (AED)</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3.49M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−19.0%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1.33M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−42.1%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1.55M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−30.4%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6.38M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−27.9%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512064">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ASP (AED)</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87</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101</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+11.2%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95</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+18.6%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91</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512064">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Impressions</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94.7M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34.7M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−18.3%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32.7M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−21.0%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162.1M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−8.7%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512064">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CTR</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2.48%</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+0.03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2.56%</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−0.02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2.56%</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+0.17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2.52%</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+0.04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512064">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GVs</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2.35M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2E7D32"/>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0.89M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0.84M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−15.5%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4.08M</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512064">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UCR</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1.71%</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−0.32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1.49%</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−0.83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1.96%</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−0.86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1.71%</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C0392B"/>
                          </a:solidFill>
                          <a:latin typeface="Calibri" pitchFamily="34" charset="0"/>
                          <a:ea typeface="Calibri" pitchFamily="34" charset="-122"/>
                          <a:cs typeface="Calibri" pitchFamily="34" charset="-120"/>
                        </a:rPr>
                        <a:t>−0.57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512064">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Markdown %</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23.6%</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B26A00"/>
                          </a:solidFill>
                          <a:latin typeface="Calibri" pitchFamily="34" charset="0"/>
                          <a:ea typeface="Calibri" pitchFamily="34" charset="-122"/>
                          <a:cs typeface="Calibri" pitchFamily="34" charset="-120"/>
                        </a:rPr>
                        <a:t>+10.8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18.5%</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B26A00"/>
                          </a:solidFill>
                          <a:latin typeface="Calibri" pitchFamily="34" charset="0"/>
                          <a:ea typeface="Calibri" pitchFamily="34" charset="-122"/>
                          <a:cs typeface="Calibri" pitchFamily="34" charset="-120"/>
                        </a:rPr>
                        <a:t>−8.0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24.4%</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B26A00"/>
                          </a:solidFill>
                          <a:latin typeface="Calibri" pitchFamily="34" charset="0"/>
                          <a:ea typeface="Calibri" pitchFamily="34" charset="-122"/>
                          <a:cs typeface="Calibri" pitchFamily="34" charset="-120"/>
                        </a:rPr>
                        <a:t>−1.7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33373E"/>
                          </a:solidFill>
                          <a:latin typeface="Calibri" pitchFamily="34" charset="0"/>
                          <a:ea typeface="Calibri" pitchFamily="34" charset="-122"/>
                          <a:cs typeface="Calibri" pitchFamily="34" charset="-120"/>
                        </a:rPr>
                        <a:t>22.8%</a:t>
                      </a:r>
                      <a:pPr algn="r" indent="0" marL="0">
                        <a:buNone/>
                      </a:pPr>
                      <a:endParaRPr lang="en-US" sz="1100" dirty="0">
                        <a:latin typeface="Calibri" charset="0"/>
                        <a:ea typeface="Calibri" charset="0"/>
                        <a:cs typeface="Calibri" charset="0"/>
                      </a:endParaRPr>
                    </a:p>
                    <a:p>
                      <a:pPr algn="r" indent="0" marL="0">
                        <a:buNone/>
                      </a:pPr>
                      <a:r>
                        <a:rPr lang="en-US" sz="1000" b="1" dirty="0">
                          <a:solidFill>
                            <a:srgbClr val="B26A00"/>
                          </a:solidFill>
                          <a:latin typeface="Calibri" pitchFamily="34" charset="0"/>
                          <a:ea typeface="Calibri" pitchFamily="34" charset="-122"/>
                          <a:cs typeface="Calibri" pitchFamily="34" charset="-120"/>
                        </a:rPr>
                        <a:t>+2.5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bl>
          </a:graphicData>
        </a:graphic>
      </p:graphicFrame>
      <p:sp>
        <p:nvSpPr>
          <p:cNvPr id="6" name="Text 2"/>
          <p:cNvSpPr txBox="1"/>
          <p:nvPr/>
        </p:nvSpPr>
        <p:spPr>
          <a:xfrm>
            <a:off x="5394960" y="5897880"/>
            <a:ext cx="6217920" cy="274320"/>
          </a:xfrm>
          <a:prstGeom prst="rect">
            <a:avLst/>
          </a:prstGeom>
          <a:noFill/>
          <a:ln/>
        </p:spPr>
        <p:txBody>
          <a:bodyPr wrap="square" lIns="0" tIns="0" rIns="0" bIns="0" rtlCol="0" anchor="t"/>
          <a:lstStyle/>
          <a:p>
            <a:pPr indent="0" marL="0">
              <a:buNone/>
            </a:pPr>
            <a:r>
              <a:rPr lang="en-US" sz="1000" i="1" dirty="0">
                <a:solidFill>
                  <a:srgbClr val="6B7079"/>
                </a:solidFill>
              </a:rPr>
              <a:t>Each cell: TY value, with change vs LY below (% for values, pp for rates)</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Daily view: sales follow traffic and conversion; the extra early-Sept markdown did not lift them</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Daily, 1–30 Sep, TY 2026 vs LY 2025 (same dates). Dotted guides mark the three periods: 1–18 | 19–25 | 26–30 Sep</a:t>
            </a:r>
            <a:endParaRPr lang="en-US" sz="1300" dirty="0"/>
          </a:p>
        </p:txBody>
      </p:sp>
      <p:graphicFrame>
        <p:nvGraphicFramePr>
          <p:cNvPr id="4" name="Chart 0" descr=""/>
          <p:cNvGraphicFramePr/>
          <p:nvPr/>
        </p:nvGraphicFramePr>
        <p:xfrm>
          <a:off x="548640" y="1600200"/>
          <a:ext cx="5440680" cy="2286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3910980" y="2057400"/>
            <a:ext cx="0" cy="1417320"/>
          </a:xfrm>
          <a:prstGeom prst="line">
            <a:avLst/>
          </a:prstGeom>
          <a:noFill/>
          <a:ln w="9525">
            <a:solidFill>
              <a:srgbClr val="9AA0A8"/>
            </a:solidFill>
            <a:prstDash val="dash"/>
          </a:ln>
        </p:spPr>
      </p:sp>
      <p:sp>
        <p:nvSpPr>
          <p:cNvPr id="6" name="Shape 3"/>
          <p:cNvSpPr/>
          <p:nvPr/>
        </p:nvSpPr>
        <p:spPr>
          <a:xfrm>
            <a:off x="5028133" y="2057400"/>
            <a:ext cx="0" cy="1417320"/>
          </a:xfrm>
          <a:prstGeom prst="line">
            <a:avLst/>
          </a:prstGeom>
          <a:noFill/>
          <a:ln w="9525">
            <a:solidFill>
              <a:srgbClr val="9AA0A8"/>
            </a:solidFill>
            <a:prstDash val="dash"/>
          </a:ln>
        </p:spPr>
      </p:sp>
      <p:graphicFrame>
        <p:nvGraphicFramePr>
          <p:cNvPr id="7" name="Chart 1" descr=""/>
          <p:cNvGraphicFramePr/>
          <p:nvPr/>
        </p:nvGraphicFramePr>
        <p:xfrm>
          <a:off x="6172200" y="1600200"/>
          <a:ext cx="5440680" cy="228600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9534540" y="2057400"/>
            <a:ext cx="0" cy="1417320"/>
          </a:xfrm>
          <a:prstGeom prst="line">
            <a:avLst/>
          </a:prstGeom>
          <a:noFill/>
          <a:ln w="9525">
            <a:solidFill>
              <a:srgbClr val="9AA0A8"/>
            </a:solidFill>
            <a:prstDash val="dash"/>
          </a:ln>
        </p:spPr>
      </p:sp>
      <p:sp>
        <p:nvSpPr>
          <p:cNvPr id="9" name="Shape 5"/>
          <p:cNvSpPr/>
          <p:nvPr/>
        </p:nvSpPr>
        <p:spPr>
          <a:xfrm>
            <a:off x="10651693" y="2057400"/>
            <a:ext cx="0" cy="1417320"/>
          </a:xfrm>
          <a:prstGeom prst="line">
            <a:avLst/>
          </a:prstGeom>
          <a:noFill/>
          <a:ln w="9525">
            <a:solidFill>
              <a:srgbClr val="9AA0A8"/>
            </a:solidFill>
            <a:prstDash val="dash"/>
          </a:ln>
        </p:spPr>
      </p:sp>
      <p:graphicFrame>
        <p:nvGraphicFramePr>
          <p:cNvPr id="10" name="Chart 2" descr=""/>
          <p:cNvGraphicFramePr/>
          <p:nvPr/>
        </p:nvGraphicFramePr>
        <p:xfrm>
          <a:off x="548640" y="3995928"/>
          <a:ext cx="5440680" cy="2286000"/>
        </p:xfrm>
        <a:graphic xmlns:a="http://schemas.openxmlformats.org/drawingml/2006/main">
          <a:graphicData uri="http://schemas.openxmlformats.org/drawingml/2006/chart">
            <c:chart xmlns:c="http://schemas.openxmlformats.org/drawingml/2006/chart" r:id="rId3"/>
          </a:graphicData>
        </a:graphic>
      </p:graphicFrame>
      <p:sp>
        <p:nvSpPr>
          <p:cNvPr id="11" name="Shape 6"/>
          <p:cNvSpPr/>
          <p:nvPr/>
        </p:nvSpPr>
        <p:spPr>
          <a:xfrm>
            <a:off x="3910980" y="4453128"/>
            <a:ext cx="0" cy="1417320"/>
          </a:xfrm>
          <a:prstGeom prst="line">
            <a:avLst/>
          </a:prstGeom>
          <a:noFill/>
          <a:ln w="9525">
            <a:solidFill>
              <a:srgbClr val="9AA0A8"/>
            </a:solidFill>
            <a:prstDash val="dash"/>
          </a:ln>
        </p:spPr>
      </p:sp>
      <p:sp>
        <p:nvSpPr>
          <p:cNvPr id="12" name="Shape 7"/>
          <p:cNvSpPr/>
          <p:nvPr/>
        </p:nvSpPr>
        <p:spPr>
          <a:xfrm>
            <a:off x="5028133" y="4453128"/>
            <a:ext cx="0" cy="1417320"/>
          </a:xfrm>
          <a:prstGeom prst="line">
            <a:avLst/>
          </a:prstGeom>
          <a:noFill/>
          <a:ln w="9525">
            <a:solidFill>
              <a:srgbClr val="9AA0A8"/>
            </a:solidFill>
            <a:prstDash val="dash"/>
          </a:ln>
        </p:spPr>
      </p:sp>
      <p:graphicFrame>
        <p:nvGraphicFramePr>
          <p:cNvPr id="13" name="Chart 3" descr=""/>
          <p:cNvGraphicFramePr/>
          <p:nvPr/>
        </p:nvGraphicFramePr>
        <p:xfrm>
          <a:off x="6172200" y="3995928"/>
          <a:ext cx="5440680" cy="2286000"/>
        </p:xfrm>
        <a:graphic xmlns:a="http://schemas.openxmlformats.org/drawingml/2006/main">
          <a:graphicData uri="http://schemas.openxmlformats.org/drawingml/2006/chart">
            <c:chart xmlns:c="http://schemas.openxmlformats.org/drawingml/2006/chart" r:id="rId4"/>
          </a:graphicData>
        </a:graphic>
      </p:graphicFrame>
      <p:sp>
        <p:nvSpPr>
          <p:cNvPr id="14" name="Shape 8"/>
          <p:cNvSpPr/>
          <p:nvPr/>
        </p:nvSpPr>
        <p:spPr>
          <a:xfrm>
            <a:off x="9534540" y="4453128"/>
            <a:ext cx="0" cy="1417320"/>
          </a:xfrm>
          <a:prstGeom prst="line">
            <a:avLst/>
          </a:prstGeom>
          <a:noFill/>
          <a:ln w="9525">
            <a:solidFill>
              <a:srgbClr val="9AA0A8"/>
            </a:solidFill>
            <a:prstDash val="dash"/>
          </a:ln>
        </p:spPr>
      </p:sp>
      <p:sp>
        <p:nvSpPr>
          <p:cNvPr id="15" name="Shape 9"/>
          <p:cNvSpPr/>
          <p:nvPr/>
        </p:nvSpPr>
        <p:spPr>
          <a:xfrm>
            <a:off x="10651693" y="4453128"/>
            <a:ext cx="0" cy="1417320"/>
          </a:xfrm>
          <a:prstGeom prst="line">
            <a:avLst/>
          </a:prstGeom>
          <a:noFill/>
          <a:ln w="9525">
            <a:solidFill>
              <a:srgbClr val="9AA0A8"/>
            </a:solidFill>
            <a:prstDash val="dash"/>
          </a:ln>
        </p:spPr>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Drivers: conversion is the biggest drag in every period; traffic adds to it from 19 Sep</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Change in GMV vs LY (AED K) split into traffic (GVs), conversion (UCR) and price (ASP); the three add up to the total change</a:t>
            </a:r>
            <a:endParaRPr lang="en-US" sz="1300" dirty="0"/>
          </a:p>
        </p:txBody>
      </p:sp>
      <p:graphicFrame>
        <p:nvGraphicFramePr>
          <p:cNvPr id="4" name="Chart 0" descr=""/>
          <p:cNvGraphicFramePr/>
          <p:nvPr/>
        </p:nvGraphicFramePr>
        <p:xfrm>
          <a:off x="548640" y="1645920"/>
          <a:ext cx="640080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178040" y="1691640"/>
          <a:ext cx="4434840" cy="914400"/>
        </p:xfrm>
        <a:graphic>
          <a:graphicData uri="http://schemas.openxmlformats.org/drawingml/2006/table">
            <a:tbl>
              <a:tblPr/>
              <a:tblGrid>
                <a:gridCol w="868680"/>
                <a:gridCol w="731520"/>
                <a:gridCol w="685800"/>
                <a:gridCol w="731520"/>
                <a:gridCol w="685800"/>
                <a:gridCol w="73152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Period</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GMV vs LY</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GVs</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UCR</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ASP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MKD</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1–18 Sep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−19.0%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−0.32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+10.8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19–25 Sep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−42.1%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−0.83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+11.2%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−8.0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26–30 Sep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−30.4%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−15.5%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−0.86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+18.6%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−1.7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Full Sept</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−27.9%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−0.57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B26A00"/>
                          </a:solidFill>
                          <a:latin typeface="Calibri" pitchFamily="34" charset="0"/>
                          <a:ea typeface="Calibri" pitchFamily="34" charset="-122"/>
                          <a:cs typeface="Calibri" pitchFamily="34" charset="-120"/>
                        </a:rPr>
                        <a:t>+2.5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r>
            </a:tbl>
          </a:graphicData>
        </a:graphic>
      </p:graphicFrame>
      <p:sp>
        <p:nvSpPr>
          <p:cNvPr id="6" name="Text 2"/>
          <p:cNvSpPr txBox="1"/>
          <p:nvPr/>
        </p:nvSpPr>
        <p:spPr>
          <a:xfrm>
            <a:off x="7178040" y="3931920"/>
            <a:ext cx="4434840" cy="685800"/>
          </a:xfrm>
          <a:prstGeom prst="rect">
            <a:avLst/>
          </a:prstGeom>
          <a:noFill/>
          <a:ln/>
        </p:spPr>
        <p:txBody>
          <a:bodyPr wrap="square" lIns="0" tIns="0" rIns="0" bIns="0" rtlCol="0" anchor="t"/>
          <a:lstStyle/>
          <a:p>
            <a:pPr indent="0" marL="0">
              <a:buNone/>
            </a:pPr>
            <a:r>
              <a:rPr lang="en-US" sz="1200" b="1" dirty="0">
                <a:solidFill>
                  <a:srgbClr val="41464E"/>
                </a:solidFill>
              </a:rPr>
              <a:t>1–18 Sep: </a:t>
            </a:r>
            <a:pPr indent="0" marL="0">
              <a:buNone/>
            </a:pPr>
            <a:r>
              <a:rPr lang="en-US" sz="1200" dirty="0">
                <a:solidFill>
                  <a:srgbClr val="41464E"/>
                </a:solidFill>
              </a:rPr>
              <a:t>traffic flat, markdown +11 pp, yet UCR −0.32 pp. Discount did not convert.</a:t>
            </a:r>
            <a:endParaRPr lang="en-US" sz="1200" dirty="0"/>
          </a:p>
        </p:txBody>
      </p:sp>
      <p:sp>
        <p:nvSpPr>
          <p:cNvPr id="7" name="Text 3"/>
          <p:cNvSpPr txBox="1"/>
          <p:nvPr/>
        </p:nvSpPr>
        <p:spPr>
          <a:xfrm>
            <a:off x="7178040" y="4663440"/>
            <a:ext cx="4434840" cy="685800"/>
          </a:xfrm>
          <a:prstGeom prst="rect">
            <a:avLst/>
          </a:prstGeom>
          <a:noFill/>
          <a:ln/>
        </p:spPr>
        <p:txBody>
          <a:bodyPr wrap="square" lIns="0" tIns="0" rIns="0" bIns="0" rtlCol="0" anchor="t"/>
          <a:lstStyle/>
          <a:p>
            <a:pPr indent="0" marL="0">
              <a:buNone/>
            </a:pPr>
            <a:r>
              <a:rPr lang="en-US" sz="1200" b="1" dirty="0">
                <a:solidFill>
                  <a:srgbClr val="41464E"/>
                </a:solidFill>
              </a:rPr>
              <a:t>19–25 Sep: </a:t>
            </a:r>
            <a:pPr indent="0" marL="0">
              <a:buNone/>
            </a:pPr>
            <a:r>
              <a:rPr lang="en-US" sz="1200" dirty="0">
                <a:solidFill>
                  <a:srgbClr val="41464E"/>
                </a:solidFill>
              </a:rPr>
              <a:t>LY markdown was 8 pp deeper; GVs −18.9% and UCR −0.83 pp.</a:t>
            </a:r>
            <a:endParaRPr lang="en-US" sz="1200" dirty="0"/>
          </a:p>
        </p:txBody>
      </p:sp>
      <p:sp>
        <p:nvSpPr>
          <p:cNvPr id="8" name="Text 4"/>
          <p:cNvSpPr txBox="1"/>
          <p:nvPr/>
        </p:nvSpPr>
        <p:spPr>
          <a:xfrm>
            <a:off x="7178040" y="5394960"/>
            <a:ext cx="4434840" cy="685800"/>
          </a:xfrm>
          <a:prstGeom prst="rect">
            <a:avLst/>
          </a:prstGeom>
          <a:noFill/>
          <a:ln/>
        </p:spPr>
        <p:txBody>
          <a:bodyPr wrap="square" lIns="0" tIns="0" rIns="0" bIns="0" rtlCol="0" anchor="t"/>
          <a:lstStyle/>
          <a:p>
            <a:pPr indent="0" marL="0">
              <a:buNone/>
            </a:pPr>
            <a:r>
              <a:rPr lang="en-US" sz="1200" b="1" dirty="0">
                <a:solidFill>
                  <a:srgbClr val="41464E"/>
                </a:solidFill>
              </a:rPr>
              <a:t>26–30 Sep: </a:t>
            </a:r>
            <a:pPr indent="0" marL="0">
              <a:buNone/>
            </a:pPr>
            <a:r>
              <a:rPr lang="en-US" sz="1200" dirty="0">
                <a:solidFill>
                  <a:srgbClr val="41464E"/>
                </a:solidFill>
              </a:rPr>
              <a:t>similar markdown to LY, but GVs −15.5% and UCR −0.86 pp; ASP +18.6% offsets part.</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Period by country and business model: retail drives the decline in every period; MP grows throughout</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GMV % change vs LY with the matching markdown (pp), GVs (%) and UCR (pp) change, per period</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188720"/>
                <a:gridCol w="822960"/>
                <a:gridCol w="822960"/>
                <a:gridCol w="822960"/>
                <a:gridCol w="822960"/>
                <a:gridCol w="822960"/>
                <a:gridCol w="822960"/>
                <a:gridCol w="822960"/>
                <a:gridCol w="822960"/>
                <a:gridCol w="822960"/>
                <a:gridCol w="822960"/>
                <a:gridCol w="822960"/>
                <a:gridCol w="822960"/>
              </a:tblGrid>
              <a:tr h="384048">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gridSpan="4">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1–18 Sep</a:t>
                      </a:r>
                      <a:endParaRPr lang="en-US" sz="11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hMerge="1">
                  <a:tcPr/>
                </a:tc>
                <a:tc hMerge="1">
                  <a:tcPr/>
                </a:tc>
                <a:tc hMerge="1">
                  <a:tcPr/>
                </a:tc>
                <a:tc gridSpan="4">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19–25 Sep</a:t>
                      </a:r>
                      <a:endParaRPr lang="en-US" sz="11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hMerge="1">
                  <a:tcPr/>
                </a:tc>
                <a:tc hMerge="1">
                  <a:tcPr/>
                </a:tc>
                <a:tc hMerge="1">
                  <a:tcPr/>
                </a:tc>
                <a:tc gridSpan="4">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26–30 Sep</a:t>
                      </a:r>
                      <a:endParaRPr lang="en-US" sz="11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hMerge="1">
                  <a:tcPr/>
                </a:tc>
                <a:tc hMerge="1">
                  <a:tcPr/>
                </a:tc>
                <a:tc hMerge="1">
                  <a:tcPr/>
                </a:tc>
              </a:tr>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Cut</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33373E"/>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GMV</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MKD</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GVs</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UCR</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GMV</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MKD</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GVs</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UCR</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GMV</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MKD</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GVs</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c>
                  <a:txBody>
                    <a:bodyPr/>
                    <a:lstStyle/>
                    <a:p>
                      <a:pPr algn="ctr" indent="0" marL="0">
                        <a:buNone/>
                      </a:pPr>
                      <a:r>
                        <a:rPr lang="en-US" sz="1000" b="1" dirty="0">
                          <a:solidFill>
                            <a:srgbClr val="33373E"/>
                          </a:solidFill>
                          <a:latin typeface="Calibri" pitchFamily="34" charset="0"/>
                          <a:ea typeface="Calibri" pitchFamily="34" charset="-122"/>
                          <a:cs typeface="Calibri" pitchFamily="34" charset="-120"/>
                        </a:rPr>
                        <a:t>UCR</a:t>
                      </a:r>
                      <a:endParaRPr lang="en-US" sz="1000" dirty="0">
                        <a:latin typeface="Calibri" charset="0"/>
                        <a:ea typeface="Calibri" charset="0"/>
                        <a:cs typeface="Calibri" charset="0"/>
                      </a:endParaRPr>
                    </a:p>
                  </a:txBody>
                  <a:tcPr marL="91440" marR="91440" marT="45720" marB="45720">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E9ECEF"/>
                    </a:solidFill>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UAE</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−16.9%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+11.0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+16.2%</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−0.46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−39.9%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−5.7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−4.0%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−0.96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−28.1%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−0.8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−1.39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KSA</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−11.3%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+10.4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−0.26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−39.7%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−10.0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−21.8%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−0.81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−26.6%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−3.7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−17.9%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−0.55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Other GCC</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−72.5%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4C7C3"/>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+6.3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−56.9%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−0.87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−72.7%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4C7C3"/>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−16.0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−66.6%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−1.12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−70.4%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4C7C3"/>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−67.7%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−1.08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Retail</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−29.0%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+4.4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−0.47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−49.3%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4C7C3"/>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−14.6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−26.8%</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−1.01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−37.6%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−5.8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−21.6%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−1.02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MP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+70.6%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D7EDD9"/>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+24.0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+62.5%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+0.28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+61.5%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D7EDD9"/>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+21.8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+64.4%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+0.14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2E7D32"/>
                          </a:solidFill>
                          <a:latin typeface="Calibri" pitchFamily="34" charset="0"/>
                          <a:ea typeface="Calibri" pitchFamily="34" charset="-122"/>
                          <a:cs typeface="Calibri" pitchFamily="34" charset="-120"/>
                        </a:rPr>
                        <a:t>+60.6%</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D7EDD9"/>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+19.6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+49.7%</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+0.16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r h="384048">
                <a:tc>
                  <a:txBody>
                    <a:bodyPr/>
                    <a:lstStyle/>
                    <a:p>
                      <a:pPr algn="l" indent="0" marL="0">
                        <a:buNone/>
                      </a:pPr>
                      <a:r>
                        <a:rPr lang="en-US" sz="1100" b="1" dirty="0">
                          <a:solidFill>
                            <a:srgbClr val="33373E"/>
                          </a:solidFill>
                          <a:latin typeface="Calibri" pitchFamily="34" charset="0"/>
                          <a:ea typeface="Calibri" pitchFamily="34" charset="-122"/>
                          <a:cs typeface="Calibri" pitchFamily="34" charset="-120"/>
                        </a:rPr>
                        <a:t>Overall</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FF6D6"/>
                    </a:solidFill>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−19.0%</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+10.8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2E7D32"/>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−0.32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−42.1%</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4C7C3"/>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−8.0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−18.9%</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−0.83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b="1" dirty="0">
                          <a:solidFill>
                            <a:srgbClr val="C0392B"/>
                          </a:solidFill>
                          <a:latin typeface="Calibri" pitchFamily="34" charset="0"/>
                          <a:ea typeface="Calibri" pitchFamily="34" charset="-122"/>
                          <a:cs typeface="Calibri" pitchFamily="34" charset="-120"/>
                        </a:rPr>
                        <a:t>−30.4%</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solidFill>
                      <a:srgbClr val="FBE3E1"/>
                    </a:solidFill>
                  </a:tcPr>
                </a:tc>
                <a:tc>
                  <a:txBody>
                    <a:bodyPr/>
                    <a:lstStyle/>
                    <a:p>
                      <a:pPr algn="r" indent="0" marL="0">
                        <a:buNone/>
                      </a:pPr>
                      <a:r>
                        <a:rPr lang="en-US" sz="1100" dirty="0">
                          <a:solidFill>
                            <a:srgbClr val="B26A00"/>
                          </a:solidFill>
                          <a:latin typeface="Calibri" pitchFamily="34" charset="0"/>
                          <a:ea typeface="Calibri" pitchFamily="34" charset="-122"/>
                          <a:cs typeface="Calibri" pitchFamily="34" charset="-120"/>
                        </a:rPr>
                        <a:t>−1.7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−15.5%</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c>
                  <a:txBody>
                    <a:bodyPr/>
                    <a:lstStyle/>
                    <a:p>
                      <a:pPr algn="r" indent="0" marL="0">
                        <a:buNone/>
                      </a:pPr>
                      <a:r>
                        <a:rPr lang="en-US" sz="1100" dirty="0">
                          <a:solidFill>
                            <a:srgbClr val="C0392B"/>
                          </a:solidFill>
                          <a:latin typeface="Calibri" pitchFamily="34" charset="0"/>
                          <a:ea typeface="Calibri" pitchFamily="34" charset="-122"/>
                          <a:cs typeface="Calibri" pitchFamily="34" charset="-120"/>
                        </a:rPr>
                        <a:t>−0.86 pp</a:t>
                      </a:r>
                      <a:endParaRPr lang="en-US" sz="1100" dirty="0">
                        <a:latin typeface="Calibri" charset="0"/>
                        <a:ea typeface="Calibri" charset="0"/>
                        <a:cs typeface="Calibri" charset="0"/>
                      </a:endParaRPr>
                    </a:p>
                  </a:txBody>
                  <a:tcPr marL="91440" marR="91440" marT="45720" marB="45720" anchor="ctr">
                    <a:lnL w="6350" cap="flat" cmpd="sng" algn="ctr">
                      <a:solidFill>
                        <a:srgbClr val="E3E5E8"/>
                      </a:solidFill>
                      <a:prstDash val="solid"/>
                      <a:round/>
                      <a:headEnd type="none" w="med" len="med"/>
                      <a:tailEnd type="none" w="med" len="med"/>
                    </a:lnL>
                    <a:lnR w="6350" cap="flat" cmpd="sng" algn="ctr">
                      <a:solidFill>
                        <a:srgbClr val="E3E5E8"/>
                      </a:solidFill>
                      <a:prstDash val="solid"/>
                      <a:round/>
                      <a:headEnd type="none" w="med" len="med"/>
                      <a:tailEnd type="none" w="med" len="med"/>
                    </a:lnR>
                    <a:lnT w="6350" cap="flat" cmpd="sng" algn="ctr">
                      <a:solidFill>
                        <a:srgbClr val="E3E5E8"/>
                      </a:solidFill>
                      <a:prstDash val="solid"/>
                      <a:round/>
                      <a:headEnd type="none" w="med" len="med"/>
                      <a:tailEnd type="none" w="med" len="med"/>
                    </a:lnT>
                    <a:lnB w="6350" cap="flat" cmpd="sng" algn="ctr">
                      <a:solidFill>
                        <a:srgbClr val="E3E5E8"/>
                      </a:solidFill>
                      <a:prstDash val="solid"/>
                      <a:round/>
                      <a:headEnd type="none" w="med" len="med"/>
                      <a:tailEnd type="none" w="med" len="med"/>
                    </a:lnB>
                  </a:tcPr>
                </a:tc>
              </a:tr>
            </a:tbl>
          </a:graphicData>
        </a:graphic>
      </p:graphicFrame>
      <p:sp>
        <p:nvSpPr>
          <p:cNvPr id="5" name="Text 2"/>
          <p:cNvSpPr txBox="1"/>
          <p:nvPr/>
        </p:nvSpPr>
        <p:spPr>
          <a:xfrm>
            <a:off x="548640" y="4846320"/>
            <a:ext cx="11064240" cy="1097280"/>
          </a:xfrm>
          <a:prstGeom prst="rect">
            <a:avLst/>
          </a:prstGeom>
          <a:noFill/>
          <a:ln/>
        </p:spPr>
        <p:txBody>
          <a:bodyPr wrap="square" lIns="0" tIns="0" rIns="0" bIns="0" rtlCol="0" anchor="t"/>
          <a:lstStyle/>
          <a:p>
            <a:pPr indent="0" marL="0">
              <a:spcAft>
                <a:spcPts val="600"/>
              </a:spcAft>
              <a:buNone/>
            </a:pPr>
            <a:r>
              <a:rPr lang="en-US" sz="1300" b="1" dirty="0">
                <a:solidFill>
                  <a:srgbClr val="41464E"/>
                </a:solidFill>
              </a:rPr>
              <a:t>How to read: </a:t>
            </a:r>
            <a:pPr indent="0" marL="0">
              <a:spcAft>
                <a:spcPts val="600"/>
              </a:spcAft>
              <a:buNone/>
            </a:pPr>
            <a:r>
              <a:rPr lang="en-US" sz="1300" dirty="0">
                <a:solidFill>
                  <a:srgbClr val="41464E"/>
                </a:solidFill>
              </a:rPr>
              <a:t>GMV cells are shaded red below −15% and dark red below −40%, green above +15%. MKD = markdown % change in pp (amber: more or less discount, not good or bad by itself).</a:t>
            </a:r>
            <a:endParaRPr lang="en-US" sz="1300" dirty="0"/>
          </a:p>
          <a:p>
            <a:pPr indent="0" marL="0">
              <a:spcAft>
                <a:spcPts val="600"/>
              </a:spcAft>
              <a:buNone/>
            </a:pPr>
            <a:r>
              <a:rPr lang="en-US" sz="1300" b="1" dirty="0">
                <a:solidFill>
                  <a:srgbClr val="41464E"/>
                </a:solidFill>
              </a:rPr>
              <a:t>Takeaway: </a:t>
            </a:r>
            <a:pPr indent="0" marL="0">
              <a:spcAft>
                <a:spcPts val="600"/>
              </a:spcAft>
              <a:buNone/>
            </a:pPr>
            <a:r>
              <a:rPr lang="en-US" sz="1300" dirty="0">
                <a:solidFill>
                  <a:srgbClr val="41464E"/>
                </a:solidFill>
              </a:rPr>
              <a:t>retail on 19–25 Sep fell 49.3% with 15 pp less markdown than LY; MP grew 60–70% in every period at roughly 40% markdown.</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t"/>
          <a:lstStyle/>
          <a:p>
            <a:pPr algn="l" indent="0" marL="0">
              <a:buNone/>
            </a:pPr>
            <a:r>
              <a:rPr lang="en-US" sz="2400" b="1" dirty="0">
                <a:solidFill>
                  <a:srgbClr val="33373E"/>
                </a:solidFill>
              </a:rPr>
              <a:t>Definitions, dates and sources</a:t>
            </a:r>
            <a:endParaRPr lang="en-US" sz="2400" dirty="0"/>
          </a:p>
        </p:txBody>
      </p:sp>
      <p:sp>
        <p:nvSpPr>
          <p:cNvPr id="3" name="Text 0"/>
          <p:cNvSpPr/>
          <p:nvPr>
            <p:ph idx="101" type="body" hasCustomPrompt="1"/>
          </p:nvPr>
        </p:nvSpPr>
        <p:spPr>
          <a:xfrm>
            <a:off x="548640" y="1161288"/>
            <a:ext cx="11064240" cy="365760"/>
          </a:xfrm>
          <a:prstGeom prst="rect">
            <a:avLst/>
          </a:prstGeom>
          <a:noFill/>
          <a:ln/>
        </p:spPr>
        <p:txBody>
          <a:bodyPr wrap="square" lIns="0" tIns="0" rIns="0" bIns="0" rtlCol="0"/>
          <a:lstStyle/>
          <a:p>
            <a:pPr algn="l" indent="0" marL="0">
              <a:buNone/>
            </a:pPr>
            <a:r>
              <a:rPr lang="en-US" sz="1300" i="1" dirty="0">
                <a:solidFill>
                  <a:srgbClr val="6B7079"/>
                </a:solidFill>
              </a:rPr>
              <a:t>How every number in this deck is built</a:t>
            </a:r>
            <a:endParaRPr lang="en-US" sz="1300" dirty="0"/>
          </a:p>
        </p:txBody>
      </p:sp>
      <p:sp>
        <p:nvSpPr>
          <p:cNvPr id="4" name="Shape 2"/>
          <p:cNvSpPr/>
          <p:nvPr/>
        </p:nvSpPr>
        <p:spPr>
          <a:xfrm>
            <a:off x="548640" y="1691640"/>
            <a:ext cx="274320" cy="274320"/>
          </a:xfrm>
          <a:prstGeom prst="ellipse">
            <a:avLst/>
          </a:prstGeom>
          <a:solidFill>
            <a:srgbClr val="B6ED2F"/>
          </a:solidFill>
          <a:ln/>
        </p:spPr>
      </p:sp>
      <p:sp>
        <p:nvSpPr>
          <p:cNvPr id="5" name="Text 3"/>
          <p:cNvSpPr txBox="1"/>
          <p:nvPr/>
        </p:nvSpPr>
        <p:spPr>
          <a:xfrm>
            <a:off x="1005840" y="1645920"/>
            <a:ext cx="1463040" cy="365760"/>
          </a:xfrm>
          <a:prstGeom prst="rect">
            <a:avLst/>
          </a:prstGeom>
          <a:noFill/>
          <a:ln/>
        </p:spPr>
        <p:txBody>
          <a:bodyPr wrap="square" lIns="0" tIns="0" rIns="0" bIns="0" rtlCol="0" anchor="t"/>
          <a:lstStyle/>
          <a:p>
            <a:pPr indent="0" marL="0">
              <a:buNone/>
            </a:pPr>
            <a:r>
              <a:rPr lang="en-US" sz="1400" b="1" dirty="0">
                <a:solidFill>
                  <a:srgbClr val="33373E"/>
                </a:solidFill>
              </a:rPr>
              <a:t>Scope</a:t>
            </a:r>
            <a:endParaRPr lang="en-US" sz="1400" dirty="0"/>
          </a:p>
        </p:txBody>
      </p:sp>
      <p:sp>
        <p:nvSpPr>
          <p:cNvPr id="6" name="Text 4"/>
          <p:cNvSpPr txBox="1"/>
          <p:nvPr/>
        </p:nvSpPr>
        <p:spPr>
          <a:xfrm>
            <a:off x="2560320" y="1645920"/>
            <a:ext cx="9052560" cy="731520"/>
          </a:xfrm>
          <a:prstGeom prst="rect">
            <a:avLst/>
          </a:prstGeom>
          <a:noFill/>
          <a:ln/>
        </p:spPr>
        <p:txBody>
          <a:bodyPr wrap="square" lIns="0" tIns="0" rIns="0" bIns="0" rtlCol="0" anchor="t"/>
          <a:lstStyle/>
          <a:p>
            <a:pPr indent="0" marL="0">
              <a:buNone/>
            </a:pPr>
            <a:r>
              <a:rPr lang="en-US" sz="1300" dirty="0">
                <a:solidFill>
                  <a:srgbClr val="41464E"/>
                </a:solidFill>
              </a:rPr>
              <a:t>Namshi marketplaces (namshi, namshi_v2), Beauty business unit, lines with GMV above zero, samples &amp; GWP excluded. GMV includes VAT and all item statuses.</a:t>
            </a:r>
            <a:endParaRPr lang="en-US" sz="1300" dirty="0"/>
          </a:p>
        </p:txBody>
      </p:sp>
      <p:sp>
        <p:nvSpPr>
          <p:cNvPr id="7" name="Shape 5"/>
          <p:cNvSpPr/>
          <p:nvPr/>
        </p:nvSpPr>
        <p:spPr>
          <a:xfrm>
            <a:off x="548640" y="2468880"/>
            <a:ext cx="274320" cy="274320"/>
          </a:xfrm>
          <a:prstGeom prst="ellipse">
            <a:avLst/>
          </a:prstGeom>
          <a:solidFill>
            <a:srgbClr val="B6ED2F"/>
          </a:solidFill>
          <a:ln/>
        </p:spPr>
      </p:sp>
      <p:sp>
        <p:nvSpPr>
          <p:cNvPr id="8" name="Text 6"/>
          <p:cNvSpPr txBox="1"/>
          <p:nvPr/>
        </p:nvSpPr>
        <p:spPr>
          <a:xfrm>
            <a:off x="1005840" y="2423160"/>
            <a:ext cx="1463040" cy="365760"/>
          </a:xfrm>
          <a:prstGeom prst="rect">
            <a:avLst/>
          </a:prstGeom>
          <a:noFill/>
          <a:ln/>
        </p:spPr>
        <p:txBody>
          <a:bodyPr wrap="square" lIns="0" tIns="0" rIns="0" bIns="0" rtlCol="0" anchor="t"/>
          <a:lstStyle/>
          <a:p>
            <a:pPr indent="0" marL="0">
              <a:buNone/>
            </a:pPr>
            <a:r>
              <a:rPr lang="en-US" sz="1400" b="1" dirty="0">
                <a:solidFill>
                  <a:srgbClr val="33373E"/>
                </a:solidFill>
              </a:rPr>
              <a:t>Periods</a:t>
            </a:r>
            <a:endParaRPr lang="en-US" sz="1400" dirty="0"/>
          </a:p>
        </p:txBody>
      </p:sp>
      <p:sp>
        <p:nvSpPr>
          <p:cNvPr id="9" name="Text 7"/>
          <p:cNvSpPr txBox="1"/>
          <p:nvPr/>
        </p:nvSpPr>
        <p:spPr>
          <a:xfrm>
            <a:off x="2560320" y="2423160"/>
            <a:ext cx="9052560" cy="731520"/>
          </a:xfrm>
          <a:prstGeom prst="rect">
            <a:avLst/>
          </a:prstGeom>
          <a:noFill/>
          <a:ln/>
        </p:spPr>
        <p:txBody>
          <a:bodyPr wrap="square" lIns="0" tIns="0" rIns="0" bIns="0" rtlCol="0" anchor="t"/>
          <a:lstStyle/>
          <a:p>
            <a:pPr indent="0" marL="0">
              <a:buNone/>
            </a:pPr>
            <a:r>
              <a:rPr lang="en-US" sz="1300" dirty="0">
                <a:solidFill>
                  <a:srgbClr val="41464E"/>
                </a:solidFill>
              </a:rPr>
              <a:t>TY = 1–30 Sep 2026, LY = 1–30 Sep 2025 (same calendar dates). Split into 1–18, 19–25 and 26–30 Sep so the three periods add up to the month. LY Beauty Week began 25 Sep and LY National Day (23 Sep) falls in 19–25.</a:t>
            </a:r>
            <a:endParaRPr lang="en-US" sz="1300" dirty="0"/>
          </a:p>
        </p:txBody>
      </p:sp>
      <p:sp>
        <p:nvSpPr>
          <p:cNvPr id="10" name="Shape 8"/>
          <p:cNvSpPr/>
          <p:nvPr/>
        </p:nvSpPr>
        <p:spPr>
          <a:xfrm>
            <a:off x="548640" y="3246120"/>
            <a:ext cx="274320" cy="274320"/>
          </a:xfrm>
          <a:prstGeom prst="ellipse">
            <a:avLst/>
          </a:prstGeom>
          <a:solidFill>
            <a:srgbClr val="B6ED2F"/>
          </a:solidFill>
          <a:ln/>
        </p:spPr>
      </p:sp>
      <p:sp>
        <p:nvSpPr>
          <p:cNvPr id="11" name="Text 9"/>
          <p:cNvSpPr txBox="1"/>
          <p:nvPr/>
        </p:nvSpPr>
        <p:spPr>
          <a:xfrm>
            <a:off x="1005840" y="3200400"/>
            <a:ext cx="1463040" cy="365760"/>
          </a:xfrm>
          <a:prstGeom prst="rect">
            <a:avLst/>
          </a:prstGeom>
          <a:noFill/>
          <a:ln/>
        </p:spPr>
        <p:txBody>
          <a:bodyPr wrap="square" lIns="0" tIns="0" rIns="0" bIns="0" rtlCol="0" anchor="t"/>
          <a:lstStyle/>
          <a:p>
            <a:pPr indent="0" marL="0">
              <a:buNone/>
            </a:pPr>
            <a:r>
              <a:rPr lang="en-US" sz="1400" b="1" dirty="0">
                <a:solidFill>
                  <a:srgbClr val="33373E"/>
                </a:solidFill>
              </a:rPr>
              <a:t>Metrics</a:t>
            </a:r>
            <a:endParaRPr lang="en-US" sz="1400" dirty="0"/>
          </a:p>
        </p:txBody>
      </p:sp>
      <p:sp>
        <p:nvSpPr>
          <p:cNvPr id="12" name="Text 10"/>
          <p:cNvSpPr txBox="1"/>
          <p:nvPr/>
        </p:nvSpPr>
        <p:spPr>
          <a:xfrm>
            <a:off x="2560320" y="3200400"/>
            <a:ext cx="9052560" cy="731520"/>
          </a:xfrm>
          <a:prstGeom prst="rect">
            <a:avLst/>
          </a:prstGeom>
          <a:noFill/>
          <a:ln/>
        </p:spPr>
        <p:txBody>
          <a:bodyPr wrap="square" lIns="0" tIns="0" rIns="0" bIns="0" rtlCol="0" anchor="t"/>
          <a:lstStyle/>
          <a:p>
            <a:pPr indent="0" marL="0">
              <a:buNone/>
            </a:pPr>
            <a:r>
              <a:rPr lang="en-US" sz="1300" dirty="0">
                <a:solidFill>
                  <a:srgbClr val="41464E"/>
                </a:solidFill>
              </a:rPr>
              <a:t>ASP = GMV ÷ units. Impressions = search + non-search. CTR = GVs ÷ impressions. UCR = units ÷ GVs. Markdown % = markdown discount ÷ normal price. Per-day values used where periods differ in length.</a:t>
            </a:r>
            <a:endParaRPr lang="en-US" sz="1300" dirty="0"/>
          </a:p>
        </p:txBody>
      </p:sp>
      <p:sp>
        <p:nvSpPr>
          <p:cNvPr id="13" name="Shape 11"/>
          <p:cNvSpPr/>
          <p:nvPr/>
        </p:nvSpPr>
        <p:spPr>
          <a:xfrm>
            <a:off x="548640" y="4023360"/>
            <a:ext cx="274320" cy="274320"/>
          </a:xfrm>
          <a:prstGeom prst="ellipse">
            <a:avLst/>
          </a:prstGeom>
          <a:solidFill>
            <a:srgbClr val="B6ED2F"/>
          </a:solidFill>
          <a:ln/>
        </p:spPr>
      </p:sp>
      <p:sp>
        <p:nvSpPr>
          <p:cNvPr id="14" name="Text 12"/>
          <p:cNvSpPr txBox="1"/>
          <p:nvPr/>
        </p:nvSpPr>
        <p:spPr>
          <a:xfrm>
            <a:off x="1005840" y="3977640"/>
            <a:ext cx="1463040" cy="365760"/>
          </a:xfrm>
          <a:prstGeom prst="rect">
            <a:avLst/>
          </a:prstGeom>
          <a:noFill/>
          <a:ln/>
        </p:spPr>
        <p:txBody>
          <a:bodyPr wrap="square" lIns="0" tIns="0" rIns="0" bIns="0" rtlCol="0" anchor="t"/>
          <a:lstStyle/>
          <a:p>
            <a:pPr indent="0" marL="0">
              <a:buNone/>
            </a:pPr>
            <a:r>
              <a:rPr lang="en-US" sz="1400" b="1" dirty="0">
                <a:solidFill>
                  <a:srgbClr val="33373E"/>
                </a:solidFill>
              </a:rPr>
              <a:t>Drivers</a:t>
            </a:r>
            <a:endParaRPr lang="en-US" sz="1400" dirty="0"/>
          </a:p>
        </p:txBody>
      </p:sp>
      <p:sp>
        <p:nvSpPr>
          <p:cNvPr id="15" name="Text 13"/>
          <p:cNvSpPr txBox="1"/>
          <p:nvPr/>
        </p:nvSpPr>
        <p:spPr>
          <a:xfrm>
            <a:off x="2560320" y="3977640"/>
            <a:ext cx="9052560" cy="731520"/>
          </a:xfrm>
          <a:prstGeom prst="rect">
            <a:avLst/>
          </a:prstGeom>
          <a:noFill/>
          <a:ln/>
        </p:spPr>
        <p:txBody>
          <a:bodyPr wrap="square" lIns="0" tIns="0" rIns="0" bIns="0" rtlCol="0" anchor="t"/>
          <a:lstStyle/>
          <a:p>
            <a:pPr indent="0" marL="0">
              <a:buNone/>
            </a:pPr>
            <a:r>
              <a:rPr lang="en-US" sz="1300" dirty="0">
                <a:solidFill>
                  <a:srgbClr val="41464E"/>
                </a:solidFill>
              </a:rPr>
              <a:t>GMV change split with a log-mean (LMDI) method into traffic (GVs), conversion (UCR) and price (ASP); the parts add up to the total.</a:t>
            </a:r>
            <a:endParaRPr lang="en-US" sz="1300" dirty="0"/>
          </a:p>
        </p:txBody>
      </p:sp>
      <p:sp>
        <p:nvSpPr>
          <p:cNvPr id="16" name="Shape 14"/>
          <p:cNvSpPr/>
          <p:nvPr/>
        </p:nvSpPr>
        <p:spPr>
          <a:xfrm>
            <a:off x="548640" y="4800600"/>
            <a:ext cx="274320" cy="274320"/>
          </a:xfrm>
          <a:prstGeom prst="ellipse">
            <a:avLst/>
          </a:prstGeom>
          <a:solidFill>
            <a:srgbClr val="B6ED2F"/>
          </a:solidFill>
          <a:ln/>
        </p:spPr>
      </p:sp>
      <p:sp>
        <p:nvSpPr>
          <p:cNvPr id="17" name="Text 15"/>
          <p:cNvSpPr txBox="1"/>
          <p:nvPr/>
        </p:nvSpPr>
        <p:spPr>
          <a:xfrm>
            <a:off x="1005840" y="4754880"/>
            <a:ext cx="1463040" cy="365760"/>
          </a:xfrm>
          <a:prstGeom prst="rect">
            <a:avLst/>
          </a:prstGeom>
          <a:noFill/>
          <a:ln/>
        </p:spPr>
        <p:txBody>
          <a:bodyPr wrap="square" lIns="0" tIns="0" rIns="0" bIns="0" rtlCol="0" anchor="t"/>
          <a:lstStyle/>
          <a:p>
            <a:pPr indent="0" marL="0">
              <a:buNone/>
            </a:pPr>
            <a:r>
              <a:rPr lang="en-US" sz="1400" b="1" dirty="0">
                <a:solidFill>
                  <a:srgbClr val="33373E"/>
                </a:solidFill>
              </a:rPr>
              <a:t>Sources</a:t>
            </a:r>
            <a:endParaRPr lang="en-US" sz="1400" dirty="0"/>
          </a:p>
        </p:txBody>
      </p:sp>
      <p:sp>
        <p:nvSpPr>
          <p:cNvPr id="18" name="Text 16"/>
          <p:cNvSpPr txBox="1"/>
          <p:nvPr/>
        </p:nvSpPr>
        <p:spPr>
          <a:xfrm>
            <a:off x="2560320" y="4754880"/>
            <a:ext cx="9052560" cy="731520"/>
          </a:xfrm>
          <a:prstGeom prst="rect">
            <a:avLst/>
          </a:prstGeom>
          <a:noFill/>
          <a:ln/>
        </p:spPr>
        <p:txBody>
          <a:bodyPr wrap="square" lIns="0" tIns="0" rIns="0" bIns="0" rtlCol="0" anchor="t"/>
          <a:lstStyle/>
          <a:p>
            <a:pPr indent="0" marL="0">
              <a:buNone/>
            </a:pPr>
            <a:r>
              <a:rPr lang="en-US" sz="1300" dirty="0">
                <a:solidFill>
                  <a:srgbClr val="41464E"/>
                </a:solidFill>
              </a:rPr>
              <a:t>BigQuery: noonbinamshi.custom_views.sales_metrics (sales, markdown), noonbinamshi.onsite_v1.onsite_measures (impressions, GVs), custom_views.item_d (Beauty scope, business model). Pulled 12 Oct 2026.</a:t>
            </a:r>
            <a:endParaRPr lang="en-US" sz="1300" dirty="0"/>
          </a:p>
        </p:txBody>
      </p:sp>
      <p:sp>
        <p:nvSpPr>
          <p:cNvPr id="19" name="Shape 17"/>
          <p:cNvSpPr/>
          <p:nvPr/>
        </p:nvSpPr>
        <p:spPr>
          <a:xfrm>
            <a:off x="548640" y="5577840"/>
            <a:ext cx="274320" cy="274320"/>
          </a:xfrm>
          <a:prstGeom prst="ellipse">
            <a:avLst/>
          </a:prstGeom>
          <a:solidFill>
            <a:srgbClr val="B6ED2F"/>
          </a:solidFill>
          <a:ln/>
        </p:spPr>
      </p:sp>
      <p:sp>
        <p:nvSpPr>
          <p:cNvPr id="20" name="Text 18"/>
          <p:cNvSpPr txBox="1"/>
          <p:nvPr/>
        </p:nvSpPr>
        <p:spPr>
          <a:xfrm>
            <a:off x="1005840" y="5532120"/>
            <a:ext cx="1463040" cy="365760"/>
          </a:xfrm>
          <a:prstGeom prst="rect">
            <a:avLst/>
          </a:prstGeom>
          <a:noFill/>
          <a:ln/>
        </p:spPr>
        <p:txBody>
          <a:bodyPr wrap="square" lIns="0" tIns="0" rIns="0" bIns="0" rtlCol="0" anchor="t"/>
          <a:lstStyle/>
          <a:p>
            <a:pPr indent="0" marL="0">
              <a:buNone/>
            </a:pPr>
            <a:r>
              <a:rPr lang="en-US" sz="1400" b="1" dirty="0">
                <a:solidFill>
                  <a:srgbClr val="33373E"/>
                </a:solidFill>
              </a:rPr>
              <a:t>Next</a:t>
            </a:r>
            <a:endParaRPr lang="en-US" sz="1400" dirty="0"/>
          </a:p>
        </p:txBody>
      </p:sp>
      <p:sp>
        <p:nvSpPr>
          <p:cNvPr id="21" name="Text 19"/>
          <p:cNvSpPr txBox="1"/>
          <p:nvPr/>
        </p:nvSpPr>
        <p:spPr>
          <a:xfrm>
            <a:off x="2560320" y="5532120"/>
            <a:ext cx="9052560" cy="731520"/>
          </a:xfrm>
          <a:prstGeom prst="rect">
            <a:avLst/>
          </a:prstGeom>
          <a:noFill/>
          <a:ln/>
        </p:spPr>
        <p:txBody>
          <a:bodyPr wrap="square" lIns="0" tIns="0" rIns="0" bIns="0" rtlCol="0" anchor="t"/>
          <a:lstStyle/>
          <a:p>
            <a:pPr indent="0" marL="0">
              <a:buNone/>
            </a:pPr>
            <a:r>
              <a:rPr lang="en-US" sz="1300" dirty="0">
                <a:solidFill>
                  <a:srgbClr val="41464E"/>
                </a:solidFill>
              </a:rPr>
              <a:t>October MTD section to be added with the same structure.</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0A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Namshi Beauty">
  <a:themeElements>
    <a:clrScheme name="Namshi Beauty">
      <a:dk1>
        <a:srgbClr val="33373E"/>
      </a:dk1>
      <a:lt1>
        <a:srgbClr val="FFFFFF"/>
      </a:lt1>
      <a:dk2>
        <a:srgbClr val="1F2226"/>
      </a:dk2>
      <a:lt2>
        <a:srgbClr val="F6F7F2"/>
      </a:lt2>
      <a:accent1>
        <a:srgbClr val="7FA91E"/>
      </a:accent1>
      <a:accent2>
        <a:srgbClr val="C9A0AE"/>
      </a:accent2>
      <a:accent3>
        <a:srgbClr val="B6ED2F"/>
      </a:accent3>
      <a:accent4>
        <a:srgbClr val="C0392B"/>
      </a:accent4>
      <a:accent5>
        <a:srgbClr val="2E7D32"/>
      </a:accent5>
      <a:accent6>
        <a:srgbClr val="B26A00"/>
      </a:accent6>
      <a:hlink>
        <a:srgbClr val="2F6EBA"/>
      </a:hlink>
      <a:folHlink>
        <a:srgbClr val="7F7F7F"/>
      </a:folHlink>
    </a:clrScheme>
    <a:fontScheme name="Namshi Beaut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Beauty performance review: September 2026</dc:title>
  <dc:subject>PptxGenJS Presentation</dc:subject>
  <dc:creator>PptxGenJS</dc:creator>
  <cp:lastModifiedBy>PptxGenJS</cp:lastModifiedBy>
  <cp:revision>1</cp:revision>
  <dcterms:created xsi:type="dcterms:W3CDTF">2026-10-12T17:06:55Z</dcterms:created>
  <dcterms:modified xsi:type="dcterms:W3CDTF">2026-10-12T17:06:55Z</dcterms:modified>
</cp:coreProperties>
</file>